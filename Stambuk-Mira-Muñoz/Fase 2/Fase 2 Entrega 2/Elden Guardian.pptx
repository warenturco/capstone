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 Nova" charset="1" panose="020B0504020202020204"/>
      <p:regular r:id="rId21"/>
    </p:embeddedFont>
    <p:embeddedFont>
      <p:font typeface="Arial Nova Bold" charset="1" panose="020B0804020202020204"/>
      <p:regular r:id="rId22"/>
    </p:embeddedFont>
    <p:embeddedFont>
      <p:font typeface="Museo Moderno Bold Italics" charset="1" panose="00000000000000000000"/>
      <p:regular r:id="rId23"/>
    </p:embeddedFont>
    <p:embeddedFont>
      <p:font typeface="Museo Moderno Italics" charset="1" panose="00000000000000000000"/>
      <p:regular r:id="rId24"/>
    </p:embeddedFont>
    <p:embeddedFont>
      <p:font typeface="Open Sans Bold" charset="1" panose="020B0806030504020204"/>
      <p:regular r:id="rId25"/>
    </p:embeddedFont>
    <p:embeddedFont>
      <p:font typeface="Arial Nova Bold Italics" charset="1" panose="020B080402020209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1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5MDx2HY4.mp4" Type="http://schemas.microsoft.com/office/2007/relationships/media"/><Relationship Id="rId11" Target="../media/image1.png" Type="http://schemas.openxmlformats.org/officeDocument/2006/relationships/image"/><Relationship Id="rId12" Target="../media/image2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jpeg" Type="http://schemas.openxmlformats.org/officeDocument/2006/relationships/image"/><Relationship Id="rId5" Target="../media/VAG5MAy5xRo.mp4" Type="http://schemas.openxmlformats.org/officeDocument/2006/relationships/video"/><Relationship Id="rId6" Target="../media/VAG5MAy5xRo.mp4" Type="http://schemas.microsoft.com/office/2007/relationships/media"/><Relationship Id="rId7" Target="../media/image13.png" Type="http://schemas.openxmlformats.org/officeDocument/2006/relationships/image"/><Relationship Id="rId8" Target="../media/image14.jpeg" Type="http://schemas.openxmlformats.org/officeDocument/2006/relationships/image"/><Relationship Id="rId9" Target="../media/VAG5MDx2HY4.mp4" Type="http://schemas.openxmlformats.org/officeDocument/2006/relationships/video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7.jpe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8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9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5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52" y="8044468"/>
            <a:ext cx="3675667" cy="3112311"/>
          </a:xfrm>
          <a:custGeom>
            <a:avLst/>
            <a:gdLst/>
            <a:ahLst/>
            <a:cxnLst/>
            <a:rect r="r" b="b" t="t" l="l"/>
            <a:pathLst>
              <a:path h="3112311" w="3675667">
                <a:moveTo>
                  <a:pt x="0" y="0"/>
                </a:moveTo>
                <a:lnTo>
                  <a:pt x="3675667" y="0"/>
                </a:lnTo>
                <a:lnTo>
                  <a:pt x="3675667" y="3112311"/>
                </a:lnTo>
                <a:lnTo>
                  <a:pt x="0" y="3112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8613" y="7059901"/>
            <a:ext cx="22817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Estudiantes: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9823" y="1023391"/>
            <a:ext cx="9176176" cy="221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spc="-866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lden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3304" y="7503131"/>
            <a:ext cx="187141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Ivo Stambuk</a:t>
            </a:r>
          </a:p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Fransico Mira</a:t>
            </a:r>
          </a:p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Anibal Muñoz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3304" y="1023391"/>
            <a:ext cx="1176662" cy="221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b="true" sz="17323" i="true" spc="-866">
                <a:solidFill>
                  <a:srgbClr val="1D2024"/>
                </a:solidFill>
                <a:latin typeface="Museo Moderno Bold Italics"/>
                <a:ea typeface="Museo Moderno Bold Italics"/>
                <a:cs typeface="Museo Moderno Bold Italics"/>
                <a:sym typeface="Museo Moderno Bold Italics"/>
              </a:rPr>
              <a:t>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62996" y="3181853"/>
            <a:ext cx="9176176" cy="221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spc="-866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uardian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74268"/>
            <a:ext cx="1176662" cy="221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b="true" sz="17323" i="true" spc="-866">
                <a:solidFill>
                  <a:srgbClr val="1D2024"/>
                </a:solidFill>
                <a:latin typeface="Museo Moderno Bold Italics"/>
                <a:ea typeface="Museo Moderno Bold Italics"/>
                <a:cs typeface="Museo Moderno Bold Italics"/>
                <a:sym typeface="Museo Moderno Bold Italics"/>
              </a:rPr>
              <a:t>G</a:t>
            </a:r>
          </a:p>
        </p:txBody>
      </p:sp>
      <p:sp>
        <p:nvSpPr>
          <p:cNvPr name="TextBox 9" id="9"/>
          <p:cNvSpPr txBox="true"/>
          <p:nvPr/>
        </p:nvSpPr>
        <p:spPr>
          <a:xfrm rot="5400000">
            <a:off x="13007474" y="4709762"/>
            <a:ext cx="5349966" cy="1097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97"/>
              </a:lnSpc>
            </a:pPr>
            <a:r>
              <a:rPr lang="en-US" sz="64498" i="true" spc="-3869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07319" y="7483858"/>
            <a:ext cx="18714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Cindy Contador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0445" y="7059901"/>
            <a:ext cx="22817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Docente: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1635" y="6452361"/>
            <a:ext cx="22817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Capstone 005D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70" t="-106056" r="0" b="-9687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3440989">
            <a:off x="15965218" y="321655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51494" y="7711806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26626" y="2344387"/>
            <a:ext cx="1584732" cy="1584732"/>
            <a:chOff x="0" y="0"/>
            <a:chExt cx="13716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467" r="0" b="-196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26626" y="4351134"/>
            <a:ext cx="1584732" cy="1584732"/>
            <a:chOff x="0" y="0"/>
            <a:chExt cx="13716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666" r="0" b="-1666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26626" y="6402533"/>
            <a:ext cx="1584732" cy="1584732"/>
            <a:chOff x="0" y="0"/>
            <a:chExt cx="13716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666" r="0" b="-1666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331877" y="2287237"/>
            <a:ext cx="8734844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Ivo Stambuk</a:t>
            </a:r>
          </a:p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Cargo: Developer (Dispositivo)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Funciones: Desarrollo de Dispositivo y Servidor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612" y="156227"/>
            <a:ext cx="7652896" cy="156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09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ntegrantes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0208" y="85972"/>
            <a:ext cx="675944" cy="169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1"/>
              </a:lnSpc>
            </a:pPr>
            <a:r>
              <a:rPr lang="en-US" sz="9951" i="true" spc="-49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31877" y="4338637"/>
            <a:ext cx="8734844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Francisco Mira</a:t>
            </a:r>
          </a:p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Cargo: Developer (APP)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Funciones: Desarrollo APP y Servidor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31877" y="6390037"/>
            <a:ext cx="8734844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Anibal Muñoz</a:t>
            </a:r>
          </a:p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Cargo: Product Owner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Funciones: Gestor de Documentación y Product Backlog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102878" y="7711806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2527012">
            <a:off x="16621609" y="-3103991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16669960" y="1527071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1798" y="1619417"/>
            <a:ext cx="7451041" cy="7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6"/>
              </a:lnSpc>
            </a:pPr>
            <a:r>
              <a:rPr lang="en-US" b="true" sz="2754" spc="-137" u="sng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Problema</a:t>
            </a:r>
          </a:p>
          <a:p>
            <a:pPr algn="just" marL="0" indent="0" lvl="0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El problema se encuentra en el alto riesgo de caídas protagonizadas por adultos mayores y las consecuencias de estas, agravadas por la falta de atención tras el accidente.</a:t>
            </a:r>
          </a:p>
          <a:p>
            <a:pPr algn="just" marL="0" indent="0" lvl="0">
              <a:lnSpc>
                <a:spcPts val="3856"/>
              </a:lnSpc>
            </a:pPr>
          </a:p>
          <a:p>
            <a:pPr algn="just" marL="0" indent="0" lvl="0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Este problema deriva del acelerado envejecimiento de la población chilena.</a:t>
            </a:r>
          </a:p>
          <a:p>
            <a:pPr algn="just" marL="0" indent="0" lvl="0">
              <a:lnSpc>
                <a:spcPts val="3856"/>
              </a:lnSpc>
            </a:pPr>
          </a:p>
          <a:p>
            <a:pPr algn="just" marL="0" indent="0" lvl="0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Las consecuencias de estos accidentes son:</a:t>
            </a:r>
          </a:p>
          <a:p>
            <a:pPr algn="just" marL="0" indent="0" lvl="0">
              <a:lnSpc>
                <a:spcPts val="3856"/>
              </a:lnSpc>
            </a:pPr>
          </a:p>
          <a:p>
            <a:pPr algn="just" marL="0" indent="0" lvl="0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Físicas: Siendo estas la segunda causa de muerte provocada por traumatismos.</a:t>
            </a:r>
          </a:p>
          <a:p>
            <a:pPr algn="just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Psicológicas: Provocando el miedo a realizar actividades cotidianas por el adulto mayor.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3068" y="673014"/>
            <a:ext cx="12297888" cy="111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6"/>
              </a:lnSpc>
            </a:pPr>
            <a:r>
              <a:rPr lang="en-US" sz="8649" spc="-432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   ntroducción al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728" y="569624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881" y="1738207"/>
            <a:ext cx="7830908" cy="759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78"/>
              </a:lnSpc>
            </a:pPr>
            <a:r>
              <a:rPr lang="en-US" sz="2556" spc="-127" u="sng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Propuesta de Solución</a:t>
            </a:r>
          </a:p>
          <a:p>
            <a:pPr algn="just" marL="0" indent="0" lvl="0">
              <a:lnSpc>
                <a:spcPts val="3578"/>
              </a:lnSpc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Elden Guardian es un sistema compuesto de 2 componentes (Un Dispositivo y una APP móvil).</a:t>
            </a:r>
          </a:p>
          <a:p>
            <a:pPr algn="just" marL="0" indent="0" lvl="0">
              <a:lnSpc>
                <a:spcPts val="3578"/>
              </a:lnSpc>
            </a:pPr>
          </a:p>
          <a:p>
            <a:pPr algn="just" marL="0" indent="0" lvl="0">
              <a:lnSpc>
                <a:spcPts val="3578"/>
              </a:lnSpc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Dispositivo (Para Adulto Mayor)</a:t>
            </a:r>
          </a:p>
          <a:p>
            <a:pPr algn="just" marL="0" indent="0" lvl="0">
              <a:lnSpc>
                <a:spcPts val="3578"/>
              </a:lnSpc>
            </a:pP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Detecta Caídas: Función Principal  </a:t>
            </a: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Localización: Incorpora GPS para conocer ubicación  </a:t>
            </a:r>
          </a:p>
          <a:p>
            <a:pPr algn="just" marL="0" indent="0" lvl="0">
              <a:lnSpc>
                <a:spcPts val="3578"/>
              </a:lnSpc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APP (Para Cuidadores y/o Familiares)</a:t>
            </a:r>
          </a:p>
          <a:p>
            <a:pPr algn="just" marL="0" indent="0" lvl="0">
              <a:lnSpc>
                <a:spcPts val="3578"/>
              </a:lnSpc>
            </a:pP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Notificación de Caídas: Alerta de manera inmediata si se detecta una caída  </a:t>
            </a: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Localización y Emergencia: Muestra ubicación en tiempo real y permite contactar servicios de emergencia en caso de accidente  </a:t>
            </a: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Monitoreo: Permite ver el estado del dispositivo y recordatorios para gestionar y notificar citas médicas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02878" y="7711806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903202">
            <a:off x="16455316" y="942607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30139" y="804864"/>
            <a:ext cx="9876881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bjetivos específicos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2404" y="817220"/>
            <a:ext cx="643882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17407" y="5913416"/>
            <a:ext cx="1107592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Integrar un módulo GPS en el dispositivo para rastrear la ubicación en tiempo real del usuario.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15" y="6113441"/>
            <a:ext cx="39302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b="true" sz="3000" spc="-150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Implementar un sistema de geolocalización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17407" y="7406962"/>
            <a:ext cx="11075929" cy="207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Crear una APP móvil que se conecte con el dispositivo móvil. La APP deberá ser capaz de recibir notificaciones de caídas, mostrar la ubicación del usuario en un mapa y permitir comunicación con servicios de emergencia.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6315" y="7721287"/>
            <a:ext cx="424466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b="true" sz="3000" spc="-150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Desarrollar una APP móvil intuitiva para familias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2903202">
            <a:off x="1264178" y="610991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903202">
            <a:off x="1264178" y="780173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00979" y="2543174"/>
            <a:ext cx="11075929" cy="26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Proporcionar a los adultos mayores una mayor independencia y seguridad, así como una mayor tranquilidad y menor preocupación a las familias, a través de un dispositivo portátil que detecta automáticamente caídas y, en conjunto, una aplicación móvil que esté en constante monitoreo y notifique en caso de caídas.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6315" y="2760080"/>
            <a:ext cx="341445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b="true" sz="3000" spc="-150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Objetivos Generales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903202">
            <a:off x="1264178" y="2754675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70116" y="7736707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3483114">
            <a:off x="16749675" y="402361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2124">
            <a:off x="16741300" y="8395868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5"/>
                </a:lnTo>
                <a:lnTo>
                  <a:pt x="0" y="154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03202">
            <a:off x="57405" y="1010873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03202">
            <a:off x="57405" y="2887635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03202">
            <a:off x="57405" y="4764397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1591" t="289" r="0" b="4529"/>
          <a:stretch>
            <a:fillRect/>
          </a:stretch>
        </p:blipFill>
        <p:spPr>
          <a:xfrm flipH="false" flipV="false" rot="0">
            <a:off x="6878324" y="1085107"/>
            <a:ext cx="4095036" cy="8801704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6574096" y="839494"/>
            <a:ext cx="4577529" cy="9112048"/>
          </a:xfrm>
          <a:custGeom>
            <a:avLst/>
            <a:gdLst/>
            <a:ahLst/>
            <a:cxnLst/>
            <a:rect r="r" b="b" t="t" l="l"/>
            <a:pathLst>
              <a:path h="9112048" w="4577529">
                <a:moveTo>
                  <a:pt x="0" y="0"/>
                </a:moveTo>
                <a:lnTo>
                  <a:pt x="4577529" y="0"/>
                </a:lnTo>
                <a:lnTo>
                  <a:pt x="4577529" y="9112048"/>
                </a:lnTo>
                <a:lnTo>
                  <a:pt x="0" y="9112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9" t="0" r="-12975" b="-914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79824" y="7595422"/>
            <a:ext cx="1505594" cy="127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4"/>
              </a:lnSpc>
            </a:pPr>
            <a:r>
              <a:rPr lang="en-US" sz="8749" spc="-437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6332" y="7593786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2700" y="1541058"/>
            <a:ext cx="6132821" cy="6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En el Menú de la APP se logra apreciar de primera mano el mapa junto a la ubicación de quien posea el dispositivo.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2700" y="974619"/>
            <a:ext cx="434543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Mapa en tiempo real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237" y="3416166"/>
            <a:ext cx="6132821" cy="6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Se muestra también el porcentaje de batería del dispositivo y su estado, ya sea Conectado o Desconectado.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2700" y="2851381"/>
            <a:ext cx="580452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Estado de Batería y Conexión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2700" y="5294582"/>
            <a:ext cx="6132821" cy="6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Abajo del todo aparecerán tus recordatorios guardados con anterioridad.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2700" y="4728143"/>
            <a:ext cx="692615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Recordatorios</a:t>
            </a:r>
          </a:p>
        </p:txBody>
      </p:sp>
      <p:pic>
        <p:nvPicPr>
          <p:cNvPr name="Picture 17" id="17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>
                  <p14:trim st="0.0000" end="50616.5210"/>
                </p14:media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1737850" y="1072254"/>
            <a:ext cx="4024822" cy="9055850"/>
          </a:xfrm>
          <a:prstGeom prst="rect">
            <a:avLst/>
          </a:prstGeom>
        </p:spPr>
      </p:pic>
      <p:sp>
        <p:nvSpPr>
          <p:cNvPr name="Freeform 18" id="18"/>
          <p:cNvSpPr/>
          <p:nvPr/>
        </p:nvSpPr>
        <p:spPr>
          <a:xfrm flipH="false" flipV="false" rot="0">
            <a:off x="11323075" y="957172"/>
            <a:ext cx="4607200" cy="9171111"/>
          </a:xfrm>
          <a:custGeom>
            <a:avLst/>
            <a:gdLst/>
            <a:ahLst/>
            <a:cxnLst/>
            <a:rect r="r" b="b" t="t" l="l"/>
            <a:pathLst>
              <a:path h="9171111" w="4607200">
                <a:moveTo>
                  <a:pt x="0" y="0"/>
                </a:moveTo>
                <a:lnTo>
                  <a:pt x="4607200" y="0"/>
                </a:lnTo>
                <a:lnTo>
                  <a:pt x="4607200" y="9171110"/>
                </a:lnTo>
                <a:lnTo>
                  <a:pt x="0" y="91711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9" t="0" r="-12975" b="-914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7819525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4"/>
                </a:lnTo>
                <a:lnTo>
                  <a:pt x="0" y="32104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537787">
            <a:off x="14779402" y="-3427366"/>
            <a:ext cx="3213715" cy="664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193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65544" y="3559729"/>
            <a:ext cx="4781502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Hubo una inversión inicial en los materiales para poder llevar a cabo el dispositivo.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9442" y="465187"/>
            <a:ext cx="765289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lcances 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0133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6178" y="3118405"/>
            <a:ext cx="4781502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Capital Inicial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5021" y="1385879"/>
            <a:ext cx="765289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limitaciones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37182" y="3559729"/>
            <a:ext cx="511996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Complejidad de implementación y desarrollo de este (Firebase)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7182" y="3118405"/>
            <a:ext cx="4781502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Integración Cloud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903202">
            <a:off x="2315691" y="2617699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903202">
            <a:off x="8180982" y="2617699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3" y="0"/>
                </a:lnTo>
                <a:lnTo>
                  <a:pt x="322623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13872" y="6823935"/>
            <a:ext cx="4913525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La creación de un dispositivo con geolocalización integrada y velocímetro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66182" y="6385785"/>
            <a:ext cx="5208904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Creación de Dispositivo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61922" y="6385785"/>
            <a:ext cx="4015127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 de Monitoreo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2903202">
            <a:off x="4952560" y="5885079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903202">
            <a:off x="10466621" y="5885079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561922" y="6823935"/>
            <a:ext cx="4913525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Desarrollar una aplicación capaz de conectarse al dispositivo para hacer uso de sus integraciones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102878" y="7711806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91318">
            <a:off x="-297034" y="14353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1306466" y="56367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03202">
            <a:off x="8473931" y="973287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03202">
            <a:off x="8473931" y="185276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03202">
            <a:off x="8473931" y="291321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03202">
            <a:off x="8473931" y="397366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70843" y="4897936"/>
            <a:ext cx="7558098" cy="4874973"/>
          </a:xfrm>
          <a:custGeom>
            <a:avLst/>
            <a:gdLst/>
            <a:ahLst/>
            <a:cxnLst/>
            <a:rect r="r" b="b" t="t" l="l"/>
            <a:pathLst>
              <a:path h="4874973" w="7558098">
                <a:moveTo>
                  <a:pt x="0" y="0"/>
                </a:moveTo>
                <a:lnTo>
                  <a:pt x="7558098" y="0"/>
                </a:lnTo>
                <a:lnTo>
                  <a:pt x="7558098" y="4874973"/>
                </a:lnTo>
                <a:lnTo>
                  <a:pt x="0" y="4874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47698" y="6998558"/>
            <a:ext cx="5610332" cy="100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958" spc="-636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etodologia 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884416"/>
            <a:ext cx="675944" cy="12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946454"/>
            <a:ext cx="3499377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trabajo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0843" y="941888"/>
            <a:ext cx="752013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Marco de trabajo: Scrum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0843" y="1821363"/>
            <a:ext cx="6422414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Épicas y Historias de Usuario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70843" y="2881812"/>
            <a:ext cx="1319519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0843" y="3942262"/>
            <a:ext cx="811349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Técnicas de estimación y priorización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102878" y="7711806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91318">
            <a:off x="-297034" y="14353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1306466" y="56367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28210" y="1622716"/>
            <a:ext cx="14981795" cy="7322352"/>
          </a:xfrm>
          <a:custGeom>
            <a:avLst/>
            <a:gdLst/>
            <a:ahLst/>
            <a:cxnLst/>
            <a:rect r="r" b="b" t="t" l="l"/>
            <a:pathLst>
              <a:path h="7322352" w="14981795">
                <a:moveTo>
                  <a:pt x="0" y="0"/>
                </a:moveTo>
                <a:lnTo>
                  <a:pt x="14981795" y="0"/>
                </a:lnTo>
                <a:lnTo>
                  <a:pt x="14981795" y="7322352"/>
                </a:lnTo>
                <a:lnTo>
                  <a:pt x="0" y="732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98482" y="346577"/>
            <a:ext cx="675944" cy="12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47839" y="389300"/>
            <a:ext cx="4226198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oadmap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583" y="7827675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48620" y="1309548"/>
            <a:ext cx="7652896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rquitectura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66825"/>
            <a:ext cx="675944" cy="12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2824" y="2299864"/>
            <a:ext cx="7652896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 Software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368290" y="496325"/>
            <a:ext cx="4785038" cy="8971946"/>
          </a:xfrm>
          <a:custGeom>
            <a:avLst/>
            <a:gdLst/>
            <a:ahLst/>
            <a:cxnLst/>
            <a:rect r="r" b="b" t="t" l="l"/>
            <a:pathLst>
              <a:path h="8971946" w="4785038">
                <a:moveTo>
                  <a:pt x="0" y="0"/>
                </a:moveTo>
                <a:lnTo>
                  <a:pt x="4785038" y="0"/>
                </a:lnTo>
                <a:lnTo>
                  <a:pt x="4785038" y="8971946"/>
                </a:lnTo>
                <a:lnTo>
                  <a:pt x="0" y="897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903202">
            <a:off x="773492" y="3701584"/>
            <a:ext cx="252721" cy="259206"/>
          </a:xfrm>
          <a:custGeom>
            <a:avLst/>
            <a:gdLst/>
            <a:ahLst/>
            <a:cxnLst/>
            <a:rect r="r" b="b" t="t" l="l"/>
            <a:pathLst>
              <a:path h="259206" w="252721">
                <a:moveTo>
                  <a:pt x="0" y="0"/>
                </a:moveTo>
                <a:lnTo>
                  <a:pt x="252721" y="0"/>
                </a:lnTo>
                <a:lnTo>
                  <a:pt x="252721" y="259206"/>
                </a:lnTo>
                <a:lnTo>
                  <a:pt x="0" y="259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0" t="-106056" r="0" b="-9687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62739" y="3671115"/>
            <a:ext cx="6246765" cy="39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3133" spc="-250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Arquitectura orientada a eventos (EDA)</a:t>
            </a:r>
          </a:p>
        </p:txBody>
      </p:sp>
    </p:spTree>
  </p:cSld>
  <p:clrMapOvr>
    <a:masterClrMapping/>
  </p:clrMapOvr>
  <p:transition spd="fast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08551" y="2554212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03202">
            <a:off x="1098214" y="116487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03202">
            <a:off x="8170050" y="499260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7697" y="815305"/>
            <a:ext cx="16561603" cy="7473423"/>
          </a:xfrm>
          <a:custGeom>
            <a:avLst/>
            <a:gdLst/>
            <a:ahLst/>
            <a:cxnLst/>
            <a:rect r="r" b="b" t="t" l="l"/>
            <a:pathLst>
              <a:path h="7473423" w="16561603">
                <a:moveTo>
                  <a:pt x="0" y="0"/>
                </a:moveTo>
                <a:lnTo>
                  <a:pt x="16561603" y="0"/>
                </a:lnTo>
                <a:lnTo>
                  <a:pt x="16561603" y="7473424"/>
                </a:lnTo>
                <a:lnTo>
                  <a:pt x="0" y="7473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3440989">
            <a:off x="15722275" y="-194103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3473" y="7121938"/>
            <a:ext cx="765289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odelo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72521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059024"/>
            <a:ext cx="7652896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 datos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906410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33151" y="4998724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Dart (Java)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903202">
            <a:off x="641014" y="374895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03202">
            <a:off x="641014" y="503012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03202">
            <a:off x="641014" y="6309648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98607" y="4969878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Google Calendar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2903202">
            <a:off x="5506470" y="3791252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03202">
            <a:off x="5506470" y="5001277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03202">
            <a:off x="5506470" y="628080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903202">
            <a:off x="10375594" y="3720107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903202">
            <a:off x="10375594" y="502679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903202">
            <a:off x="10371926" y="625393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903202">
            <a:off x="10375594" y="7481068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52562" y="2782532"/>
            <a:ext cx="2337435" cy="3201966"/>
          </a:xfrm>
          <a:custGeom>
            <a:avLst/>
            <a:gdLst/>
            <a:ahLst/>
            <a:cxnLst/>
            <a:rect r="r" b="b" t="t" l="l"/>
            <a:pathLst>
              <a:path h="3201966" w="2337435">
                <a:moveTo>
                  <a:pt x="0" y="0"/>
                </a:moveTo>
                <a:lnTo>
                  <a:pt x="2337434" y="0"/>
                </a:lnTo>
                <a:lnTo>
                  <a:pt x="2337434" y="3201966"/>
                </a:lnTo>
                <a:lnTo>
                  <a:pt x="0" y="3201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209889" y="7557714"/>
            <a:ext cx="2635324" cy="2635324"/>
          </a:xfrm>
          <a:custGeom>
            <a:avLst/>
            <a:gdLst/>
            <a:ahLst/>
            <a:cxnLst/>
            <a:rect r="r" b="b" t="t" l="l"/>
            <a:pathLst>
              <a:path h="2635324" w="2635324">
                <a:moveTo>
                  <a:pt x="0" y="0"/>
                </a:moveTo>
                <a:lnTo>
                  <a:pt x="2635323" y="0"/>
                </a:lnTo>
                <a:lnTo>
                  <a:pt x="2635323" y="2635324"/>
                </a:lnTo>
                <a:lnTo>
                  <a:pt x="0" y="2635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71694" y="6676732"/>
            <a:ext cx="3516306" cy="3516306"/>
          </a:xfrm>
          <a:custGeom>
            <a:avLst/>
            <a:gdLst/>
            <a:ahLst/>
            <a:cxnLst/>
            <a:rect r="r" b="b" t="t" l="l"/>
            <a:pathLst>
              <a:path h="3516306" w="3516306">
                <a:moveTo>
                  <a:pt x="0" y="0"/>
                </a:moveTo>
                <a:lnTo>
                  <a:pt x="3516306" y="0"/>
                </a:lnTo>
                <a:lnTo>
                  <a:pt x="3516306" y="3516306"/>
                </a:lnTo>
                <a:lnTo>
                  <a:pt x="0" y="35163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70355" y="7646519"/>
            <a:ext cx="2694568" cy="2694568"/>
          </a:xfrm>
          <a:custGeom>
            <a:avLst/>
            <a:gdLst/>
            <a:ahLst/>
            <a:cxnLst/>
            <a:rect r="r" b="b" t="t" l="l"/>
            <a:pathLst>
              <a:path h="2694568" w="2694568">
                <a:moveTo>
                  <a:pt x="0" y="0"/>
                </a:moveTo>
                <a:lnTo>
                  <a:pt x="2694568" y="0"/>
                </a:lnTo>
                <a:lnTo>
                  <a:pt x="2694568" y="2694568"/>
                </a:lnTo>
                <a:lnTo>
                  <a:pt x="0" y="26945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61794" y="1309548"/>
            <a:ext cx="10401314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ecnologias  utilizadas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266825"/>
            <a:ext cx="675944" cy="12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3308" y="3717554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Flutter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3308" y="6278249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Android Studio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18764" y="3759853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Google Maps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18764" y="6249402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Servicio Celular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87889" y="3688708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Real time database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87889" y="4995395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Cloud Fuction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87889" y="6293677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Cloud Messaging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45246" y="7211544"/>
            <a:ext cx="3826448" cy="97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Authentication (Ley 21719)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4594" y="2887307"/>
            <a:ext cx="102623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67782" y="2887307"/>
            <a:ext cx="3266405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Integración/API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76279" y="2887307"/>
            <a:ext cx="1895772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Firebase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91318">
            <a:off x="-297034" y="14353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1306466" y="56367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295" y="7237948"/>
            <a:ext cx="1145437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Criterios de aceptación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904651" y="530578"/>
            <a:ext cx="6231935" cy="7485631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6245029">
            <a:off x="-2316255" y="-7128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-27372" y="975237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990" y="558198"/>
            <a:ext cx="3345853" cy="372024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82714" y="474505"/>
            <a:ext cx="3373750" cy="388763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03985" y="377660"/>
            <a:ext cx="3406032" cy="408132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01129" y="424166"/>
            <a:ext cx="3390530" cy="3988310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485753" y="5065239"/>
            <a:ext cx="4144069" cy="2584712"/>
          </a:xfrm>
          <a:custGeom>
            <a:avLst/>
            <a:gdLst/>
            <a:ahLst/>
            <a:cxnLst/>
            <a:rect r="r" b="b" t="t" l="l"/>
            <a:pathLst>
              <a:path h="2584712" w="4144069">
                <a:moveTo>
                  <a:pt x="0" y="0"/>
                </a:moveTo>
                <a:lnTo>
                  <a:pt x="4144069" y="0"/>
                </a:lnTo>
                <a:lnTo>
                  <a:pt x="4144069" y="2584712"/>
                </a:lnTo>
                <a:lnTo>
                  <a:pt x="0" y="25847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5" t="0" r="-27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82247" y="5053327"/>
            <a:ext cx="4183377" cy="2623749"/>
          </a:xfrm>
          <a:custGeom>
            <a:avLst/>
            <a:gdLst/>
            <a:ahLst/>
            <a:cxnLst/>
            <a:rect r="r" b="b" t="t" l="l"/>
            <a:pathLst>
              <a:path h="2623749" w="4183377">
                <a:moveTo>
                  <a:pt x="0" y="0"/>
                </a:moveTo>
                <a:lnTo>
                  <a:pt x="4183377" y="0"/>
                </a:lnTo>
                <a:lnTo>
                  <a:pt x="4183377" y="2623749"/>
                </a:lnTo>
                <a:lnTo>
                  <a:pt x="0" y="26237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13702" y="5065239"/>
            <a:ext cx="4145478" cy="2611837"/>
          </a:xfrm>
          <a:custGeom>
            <a:avLst/>
            <a:gdLst/>
            <a:ahLst/>
            <a:cxnLst/>
            <a:rect r="r" b="b" t="t" l="l"/>
            <a:pathLst>
              <a:path h="2611837" w="4145478">
                <a:moveTo>
                  <a:pt x="0" y="0"/>
                </a:moveTo>
                <a:lnTo>
                  <a:pt x="4145478" y="0"/>
                </a:lnTo>
                <a:lnTo>
                  <a:pt x="4145478" y="2611837"/>
                </a:lnTo>
                <a:lnTo>
                  <a:pt x="0" y="26118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68902" y="5065239"/>
            <a:ext cx="4185208" cy="2611837"/>
          </a:xfrm>
          <a:custGeom>
            <a:avLst/>
            <a:gdLst/>
            <a:ahLst/>
            <a:cxnLst/>
            <a:rect r="r" b="b" t="t" l="l"/>
            <a:pathLst>
              <a:path h="2611837" w="4185208">
                <a:moveTo>
                  <a:pt x="0" y="0"/>
                </a:moveTo>
                <a:lnTo>
                  <a:pt x="4185208" y="0"/>
                </a:lnTo>
                <a:lnTo>
                  <a:pt x="4185208" y="2611837"/>
                </a:lnTo>
                <a:lnTo>
                  <a:pt x="0" y="26118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954" t="0" r="-592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7138" y="7981876"/>
            <a:ext cx="17776972" cy="100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7"/>
              </a:lnSpc>
            </a:pPr>
            <a:r>
              <a:rPr lang="en-US" sz="7849" spc="-392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Porcentaje de Historia de Usuario en done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02503" y="4175920"/>
            <a:ext cx="132882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239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61081" y="4175920"/>
            <a:ext cx="132882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239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42589" y="4175920"/>
            <a:ext cx="132882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239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31982" y="4175920"/>
            <a:ext cx="132882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239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 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102878" y="7711806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6245029">
            <a:off x="-2316255" y="-7128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-27372" y="975237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97401" y="1573208"/>
            <a:ext cx="66931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8F8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Conclusión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37739"/>
            <a:ext cx="9684799" cy="126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9"/>
              </a:lnSpc>
            </a:pPr>
            <a:r>
              <a:rPr lang="en-US" sz="9999" spc="-799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Fin</a:t>
            </a:r>
          </a:p>
        </p:txBody>
      </p:sp>
      <p:sp>
        <p:nvSpPr>
          <p:cNvPr name="TextBox 3" id="3"/>
          <p:cNvSpPr txBox="true"/>
          <p:nvPr/>
        </p:nvSpPr>
        <p:spPr>
          <a:xfrm rot="5400000">
            <a:off x="13007474" y="4709762"/>
            <a:ext cx="5349966" cy="1097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97"/>
              </a:lnSpc>
            </a:pPr>
            <a:r>
              <a:rPr lang="en-US" sz="64498" i="true" spc="-3869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45423"/>
            <a:ext cx="5844078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b="true" sz="3899" i="true" spc="-233">
                <a:solidFill>
                  <a:srgbClr val="1D2024"/>
                </a:solidFill>
                <a:latin typeface="Arial Nova Bold Italics"/>
                <a:ea typeface="Arial Nova Bold Italics"/>
                <a:cs typeface="Arial Nova Bold Italics"/>
                <a:sym typeface="Arial Nova Bold Italics"/>
              </a:rPr>
              <a:t>Gracias por su atención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DAG5Em_GHJ8</dc:identifier>
  <dcterms:modified xsi:type="dcterms:W3CDTF">2011-08-01T06:04:30Z</dcterms:modified>
  <cp:revision>1</cp:revision>
  <dc:title>Elden Guardian</dc:title>
</cp:coreProperties>
</file>