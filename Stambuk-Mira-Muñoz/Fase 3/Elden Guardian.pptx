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Arial Nova" charset="1" panose="020B0504020202020204"/>
      <p:regular r:id="rId23"/>
    </p:embeddedFont>
    <p:embeddedFont>
      <p:font typeface="Arial Nova Bold" charset="1" panose="020B0804020202020204"/>
      <p:regular r:id="rId24"/>
    </p:embeddedFont>
    <p:embeddedFont>
      <p:font typeface="Museo Moderno Bold Italics" charset="1" panose="00000000000000000000"/>
      <p:regular r:id="rId25"/>
    </p:embeddedFont>
    <p:embeddedFont>
      <p:font typeface="Museo Moderno Italics" charset="1" panose="00000000000000000000"/>
      <p:regular r:id="rId26"/>
    </p:embeddedFont>
    <p:embeddedFont>
      <p:font typeface="Open Sans Bold" charset="1" panose="020B0806030504020204"/>
      <p:regular r:id="rId27"/>
    </p:embeddedFont>
    <p:embeddedFont>
      <p:font typeface="Arial Nova Bold Italics" charset="1" panose="020B0804020202090204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.png" Type="http://schemas.openxmlformats.org/officeDocument/2006/relationships/image"/><Relationship Id="rId6" Target="../media/image14.jpeg" Type="http://schemas.openxmlformats.org/officeDocument/2006/relationships/image"/><Relationship Id="rId7" Target="../media/VAG6OhvkWSg.mp4" Type="http://schemas.openxmlformats.org/officeDocument/2006/relationships/video"/><Relationship Id="rId8" Target="../media/VAG6OhvkWSg.mp4" Type="http://schemas.microsoft.com/office/2007/relationships/media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jpeg" Type="http://schemas.openxmlformats.org/officeDocument/2006/relationships/image"/><Relationship Id="rId11" Target="../media/VAG5MDx2HY4.mp4" Type="http://schemas.openxmlformats.org/officeDocument/2006/relationships/video"/><Relationship Id="rId12" Target="../media/VAG5MDx2HY4.mp4" Type="http://schemas.microsoft.com/office/2007/relationships/media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5.jpeg" Type="http://schemas.openxmlformats.org/officeDocument/2006/relationships/image"/><Relationship Id="rId5" Target="../media/VAG5MAy5xRo.mp4" Type="http://schemas.openxmlformats.org/officeDocument/2006/relationships/video"/><Relationship Id="rId6" Target="../media/VAG5MAy5xRo.mp4" Type="http://schemas.microsoft.com/office/2007/relationships/media"/><Relationship Id="rId7" Target="../media/image16.png" Type="http://schemas.openxmlformats.org/officeDocument/2006/relationships/image"/><Relationship Id="rId8" Target="../media/image13.png" Type="http://schemas.openxmlformats.org/officeDocument/2006/relationships/image"/><Relationship Id="rId9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9.png" Type="http://schemas.openxmlformats.org/officeDocument/2006/relationships/image"/><Relationship Id="rId5" Target="../media/image13.pn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0.jpeg" Type="http://schemas.openxmlformats.org/officeDocument/2006/relationships/image"/><Relationship Id="rId5" Target="../media/image13.pn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1.jpe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2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25.png" Type="http://schemas.openxmlformats.org/officeDocument/2006/relationships/image"/><Relationship Id="rId7" Target="../media/image26.png" Type="http://schemas.openxmlformats.org/officeDocument/2006/relationships/image"/><Relationship Id="rId8" Target="../media/image2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8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11" Target="../media/image36.png" Type="http://schemas.openxmlformats.org/officeDocument/2006/relationships/image"/><Relationship Id="rId12" Target="../media/image8.png" Type="http://schemas.openxmlformats.org/officeDocument/2006/relationships/image"/><Relationship Id="rId13" Target="../media/image9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Relationship Id="rId6" Target="../media/image31.png" Type="http://schemas.openxmlformats.org/officeDocument/2006/relationships/image"/><Relationship Id="rId7" Target="../media/image32.png" Type="http://schemas.openxmlformats.org/officeDocument/2006/relationships/image"/><Relationship Id="rId8" Target="../media/image33.png" Type="http://schemas.openxmlformats.org/officeDocument/2006/relationships/image"/><Relationship Id="rId9" Target="../media/image3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38.pn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28613" y="7059901"/>
            <a:ext cx="2281745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spc="-139">
                <a:solidFill>
                  <a:srgbClr val="1D2024"/>
                </a:solidFill>
                <a:latin typeface="Arial Nova"/>
                <a:ea typeface="Arial Nova"/>
                <a:cs typeface="Arial Nova"/>
                <a:sym typeface="Arial Nova"/>
              </a:rPr>
              <a:t>Estudiantes: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519823" y="1023391"/>
            <a:ext cx="9176176" cy="2216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56"/>
              </a:lnSpc>
            </a:pPr>
            <a:r>
              <a:rPr lang="en-US" sz="17323" spc="-866" b="true">
                <a:solidFill>
                  <a:srgbClr val="1D2024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lden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03304" y="7503131"/>
            <a:ext cx="1871415" cy="104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spc="-99">
                <a:solidFill>
                  <a:srgbClr val="1D2024"/>
                </a:solidFill>
                <a:latin typeface="Arial Nova"/>
                <a:ea typeface="Arial Nova"/>
                <a:cs typeface="Arial Nova"/>
                <a:sym typeface="Arial Nova"/>
              </a:rPr>
              <a:t>Ivo Stambuk</a:t>
            </a:r>
          </a:p>
          <a:p>
            <a:pPr algn="l">
              <a:lnSpc>
                <a:spcPts val="2799"/>
              </a:lnSpc>
            </a:pPr>
            <a:r>
              <a:rPr lang="en-US" sz="1999" spc="-99">
                <a:solidFill>
                  <a:srgbClr val="1D2024"/>
                </a:solidFill>
                <a:latin typeface="Arial Nova"/>
                <a:ea typeface="Arial Nova"/>
                <a:cs typeface="Arial Nova"/>
                <a:sym typeface="Arial Nova"/>
              </a:rPr>
              <a:t>Fransico Mira</a:t>
            </a:r>
          </a:p>
          <a:p>
            <a:pPr algn="l">
              <a:lnSpc>
                <a:spcPts val="2799"/>
              </a:lnSpc>
            </a:pPr>
            <a:r>
              <a:rPr lang="en-US" sz="1999" spc="-99">
                <a:solidFill>
                  <a:srgbClr val="1D2024"/>
                </a:solidFill>
                <a:latin typeface="Arial Nova"/>
                <a:ea typeface="Arial Nova"/>
                <a:cs typeface="Arial Nova"/>
                <a:sym typeface="Arial Nova"/>
              </a:rPr>
              <a:t>Anibal Muñoz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03304" y="1023391"/>
            <a:ext cx="1176662" cy="2216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56"/>
              </a:lnSpc>
            </a:pPr>
            <a:r>
              <a:rPr lang="en-US" b="true" sz="17323" i="true" spc="-866">
                <a:solidFill>
                  <a:srgbClr val="1D2024"/>
                </a:solidFill>
                <a:latin typeface="Museo Moderno Bold Italics"/>
                <a:ea typeface="Museo Moderno Bold Italics"/>
                <a:cs typeface="Museo Moderno Bold Italics"/>
                <a:sym typeface="Museo Moderno Bold Italics"/>
              </a:rPr>
              <a:t>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662996" y="3181853"/>
            <a:ext cx="9176176" cy="2216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56"/>
              </a:lnSpc>
            </a:pPr>
            <a:r>
              <a:rPr lang="en-US" sz="17323" spc="-866" b="true">
                <a:solidFill>
                  <a:srgbClr val="1D2024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uardian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174268"/>
            <a:ext cx="1176662" cy="2216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56"/>
              </a:lnSpc>
            </a:pPr>
            <a:r>
              <a:rPr lang="en-US" b="true" sz="17323" i="true" spc="-866">
                <a:solidFill>
                  <a:srgbClr val="1D2024"/>
                </a:solidFill>
                <a:latin typeface="Museo Moderno Bold Italics"/>
                <a:ea typeface="Museo Moderno Bold Italics"/>
                <a:cs typeface="Museo Moderno Bold Italics"/>
                <a:sym typeface="Museo Moderno Bold Italics"/>
              </a:rPr>
              <a:t>G</a:t>
            </a:r>
          </a:p>
        </p:txBody>
      </p:sp>
      <p:sp>
        <p:nvSpPr>
          <p:cNvPr name="TextBox 8" id="8"/>
          <p:cNvSpPr txBox="true"/>
          <p:nvPr/>
        </p:nvSpPr>
        <p:spPr>
          <a:xfrm rot="5400000">
            <a:off x="13007474" y="4709762"/>
            <a:ext cx="5349966" cy="10974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297"/>
              </a:lnSpc>
            </a:pPr>
            <a:r>
              <a:rPr lang="en-US" sz="64498" i="true" spc="-3869">
                <a:solidFill>
                  <a:srgbClr val="1D2024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707319" y="7483858"/>
            <a:ext cx="1871415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spc="-99">
                <a:solidFill>
                  <a:srgbClr val="1D2024"/>
                </a:solidFill>
                <a:latin typeface="Arial Nova"/>
                <a:ea typeface="Arial Nova"/>
                <a:cs typeface="Arial Nova"/>
                <a:sym typeface="Arial Nova"/>
              </a:rPr>
              <a:t>Cindy Contador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310445" y="7059901"/>
            <a:ext cx="2281745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spc="-139">
                <a:solidFill>
                  <a:srgbClr val="1D2024"/>
                </a:solidFill>
                <a:latin typeface="Arial Nova"/>
                <a:ea typeface="Arial Nova"/>
                <a:cs typeface="Arial Nova"/>
                <a:sym typeface="Arial Nova"/>
              </a:rPr>
              <a:t>Docente: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91635" y="6452361"/>
            <a:ext cx="2281745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spc="-139">
                <a:solidFill>
                  <a:srgbClr val="1D2024"/>
                </a:solidFill>
                <a:latin typeface="Arial Nova"/>
                <a:ea typeface="Arial Nova"/>
                <a:cs typeface="Arial Nova"/>
                <a:sym typeface="Arial Nova"/>
              </a:rPr>
              <a:t>Capstone 005D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472266" y="9241225"/>
            <a:ext cx="3333491" cy="955716"/>
          </a:xfrm>
          <a:custGeom>
            <a:avLst/>
            <a:gdLst/>
            <a:ahLst/>
            <a:cxnLst/>
            <a:rect r="r" b="b" t="t" l="l"/>
            <a:pathLst>
              <a:path h="955716" w="3333491">
                <a:moveTo>
                  <a:pt x="0" y="0"/>
                </a:moveTo>
                <a:lnTo>
                  <a:pt x="3333491" y="0"/>
                </a:lnTo>
                <a:lnTo>
                  <a:pt x="3333491" y="955716"/>
                </a:lnTo>
                <a:lnTo>
                  <a:pt x="0" y="9557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570" t="-106056" r="0" b="-9687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3440989">
            <a:off x="15965218" y="3216557"/>
            <a:ext cx="3213715" cy="6602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41"/>
              </a:lnSpc>
            </a:pPr>
            <a:r>
              <a:rPr lang="en-US" sz="38744" i="true" spc="-2324">
                <a:solidFill>
                  <a:srgbClr val="F8F8F8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5751494" y="7711806"/>
            <a:ext cx="1507806" cy="1546494"/>
          </a:xfrm>
          <a:custGeom>
            <a:avLst/>
            <a:gdLst/>
            <a:ahLst/>
            <a:cxnLst/>
            <a:rect r="r" b="b" t="t" l="l"/>
            <a:pathLst>
              <a:path h="1546494" w="1507806">
                <a:moveTo>
                  <a:pt x="0" y="0"/>
                </a:moveTo>
                <a:lnTo>
                  <a:pt x="1507806" y="0"/>
                </a:lnTo>
                <a:lnTo>
                  <a:pt x="1507806" y="1546494"/>
                </a:lnTo>
                <a:lnTo>
                  <a:pt x="0" y="15464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26626" y="2344387"/>
            <a:ext cx="1584732" cy="1584732"/>
            <a:chOff x="0" y="0"/>
            <a:chExt cx="13716000" cy="1371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1467" r="0" b="-19607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26626" y="4351134"/>
            <a:ext cx="1584732" cy="1584732"/>
            <a:chOff x="0" y="0"/>
            <a:chExt cx="13716000" cy="13716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16666" r="0" b="-16666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426626" y="6402533"/>
            <a:ext cx="1584732" cy="1584732"/>
            <a:chOff x="0" y="0"/>
            <a:chExt cx="13716000" cy="13716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16666" r="0" b="-16666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331877" y="4338637"/>
            <a:ext cx="8734844" cy="1552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199"/>
              </a:lnSpc>
            </a:pPr>
            <a:r>
              <a:rPr lang="en-US" sz="2999" spc="-149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Francisco Mira</a:t>
            </a:r>
          </a:p>
          <a:p>
            <a:pPr algn="just" marL="0" indent="0" lvl="0">
              <a:lnSpc>
                <a:spcPts val="4199"/>
              </a:lnSpc>
            </a:pPr>
            <a:r>
              <a:rPr lang="en-US" sz="2999" spc="-149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Cargo: Developer (APP) y Scrum Master</a:t>
            </a:r>
          </a:p>
          <a:p>
            <a:pPr algn="just">
              <a:lnSpc>
                <a:spcPts val="4199"/>
              </a:lnSpc>
            </a:pPr>
            <a:r>
              <a:rPr lang="en-US" sz="2999" spc="-149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Funciones: Desarrollo APP y Servidor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331877" y="6390037"/>
            <a:ext cx="8734844" cy="1552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199"/>
              </a:lnSpc>
            </a:pPr>
            <a:r>
              <a:rPr lang="en-US" sz="2999" spc="-149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Anibal Muñoz</a:t>
            </a:r>
          </a:p>
          <a:p>
            <a:pPr algn="just" marL="0" indent="0" lvl="0">
              <a:lnSpc>
                <a:spcPts val="4199"/>
              </a:lnSpc>
            </a:pPr>
            <a:r>
              <a:rPr lang="en-US" sz="2999" spc="-149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Cargo: Product Owner</a:t>
            </a:r>
          </a:p>
          <a:p>
            <a:pPr algn="just">
              <a:lnSpc>
                <a:spcPts val="4199"/>
              </a:lnSpc>
            </a:pPr>
            <a:r>
              <a:rPr lang="en-US" sz="2999" spc="-149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Funciones: Gestor de Documentación y Product Backlog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480208" y="9258300"/>
            <a:ext cx="3292233" cy="739560"/>
          </a:xfrm>
          <a:custGeom>
            <a:avLst/>
            <a:gdLst/>
            <a:ahLst/>
            <a:cxnLst/>
            <a:rect r="r" b="b" t="t" l="l"/>
            <a:pathLst>
              <a:path h="739560" w="3292233">
                <a:moveTo>
                  <a:pt x="0" y="0"/>
                </a:moveTo>
                <a:lnTo>
                  <a:pt x="3292234" y="0"/>
                </a:lnTo>
                <a:lnTo>
                  <a:pt x="3292234" y="739560"/>
                </a:lnTo>
                <a:lnTo>
                  <a:pt x="0" y="7395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331877" y="2287237"/>
            <a:ext cx="8734844" cy="1552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199"/>
              </a:lnSpc>
            </a:pPr>
            <a:r>
              <a:rPr lang="en-US" sz="2999" spc="-149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Ivo Stambuk</a:t>
            </a:r>
          </a:p>
          <a:p>
            <a:pPr algn="just" marL="0" indent="0" lvl="0">
              <a:lnSpc>
                <a:spcPts val="4199"/>
              </a:lnSpc>
            </a:pPr>
            <a:r>
              <a:rPr lang="en-US" sz="2999" spc="-149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Cargo: Developer (Dispositivo)</a:t>
            </a:r>
          </a:p>
          <a:p>
            <a:pPr algn="just">
              <a:lnSpc>
                <a:spcPts val="4199"/>
              </a:lnSpc>
            </a:pPr>
            <a:r>
              <a:rPr lang="en-US" sz="2999" spc="-149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Funciones: Desarrollo de Dispositivo y Servidor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2612" y="156227"/>
            <a:ext cx="7652896" cy="1567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09"/>
              </a:lnSpc>
            </a:pPr>
            <a:r>
              <a:rPr lang="en-US" sz="9149" spc="-457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ntegrantes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80208" y="85972"/>
            <a:ext cx="675944" cy="1699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31"/>
              </a:lnSpc>
            </a:pPr>
            <a:r>
              <a:rPr lang="en-US" sz="9951" i="true" spc="-497">
                <a:solidFill>
                  <a:srgbClr val="F8F8F8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I</a:t>
            </a:r>
          </a:p>
        </p:txBody>
      </p:sp>
    </p:spTree>
  </p:cSld>
  <p:clrMapOvr>
    <a:masterClrMapping/>
  </p:clrMapOvr>
  <p:transition spd="fast">
    <p:push dir="u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D7486">
                <a:alpha val="100000"/>
              </a:srgbClr>
            </a:gs>
            <a:gs pos="100000">
              <a:srgbClr val="0A0D1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2527012">
            <a:off x="16621609" y="-3103991"/>
            <a:ext cx="3213715" cy="6602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41"/>
              </a:lnSpc>
            </a:pPr>
            <a:r>
              <a:rPr lang="en-US" sz="38744" i="true" spc="-2324">
                <a:solidFill>
                  <a:srgbClr val="F8F8F8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10267691">
            <a:off x="16669960" y="1527071"/>
            <a:ext cx="1507806" cy="1546494"/>
          </a:xfrm>
          <a:custGeom>
            <a:avLst/>
            <a:gdLst/>
            <a:ahLst/>
            <a:cxnLst/>
            <a:rect r="r" b="b" t="t" l="l"/>
            <a:pathLst>
              <a:path h="1546494" w="1507806">
                <a:moveTo>
                  <a:pt x="0" y="0"/>
                </a:moveTo>
                <a:lnTo>
                  <a:pt x="1507806" y="0"/>
                </a:lnTo>
                <a:lnTo>
                  <a:pt x="1507806" y="1546494"/>
                </a:lnTo>
                <a:lnTo>
                  <a:pt x="0" y="15464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11798" y="1619417"/>
            <a:ext cx="7451041" cy="7264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56"/>
              </a:lnSpc>
            </a:pPr>
            <a:r>
              <a:rPr lang="en-US" b="true" sz="2754" spc="-137" u="sng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Problema</a:t>
            </a:r>
          </a:p>
          <a:p>
            <a:pPr algn="just" marL="0" indent="0" lvl="0">
              <a:lnSpc>
                <a:spcPts val="3856"/>
              </a:lnSpc>
            </a:pPr>
            <a:r>
              <a:rPr lang="en-US" sz="2754" spc="-137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El problema se encuentra en el alto riesgo de caídas protagonizadas por adultos mayores y las consecuencias de estas, agravadas por la falta de atención tras el accidente.</a:t>
            </a:r>
          </a:p>
          <a:p>
            <a:pPr algn="just" marL="0" indent="0" lvl="0">
              <a:lnSpc>
                <a:spcPts val="3856"/>
              </a:lnSpc>
            </a:pPr>
          </a:p>
          <a:p>
            <a:pPr algn="just" marL="0" indent="0" lvl="0">
              <a:lnSpc>
                <a:spcPts val="3856"/>
              </a:lnSpc>
            </a:pPr>
            <a:r>
              <a:rPr lang="en-US" sz="2754" spc="-137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Este problema deriva del acelerado envejecimiento de la población chilena.</a:t>
            </a:r>
          </a:p>
          <a:p>
            <a:pPr algn="just" marL="0" indent="0" lvl="0">
              <a:lnSpc>
                <a:spcPts val="3856"/>
              </a:lnSpc>
            </a:pPr>
          </a:p>
          <a:p>
            <a:pPr algn="just" marL="0" indent="0" lvl="0">
              <a:lnSpc>
                <a:spcPts val="3856"/>
              </a:lnSpc>
            </a:pPr>
            <a:r>
              <a:rPr lang="en-US" sz="2754" spc="-137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Las consecuencias de estos accidentes son:</a:t>
            </a:r>
          </a:p>
          <a:p>
            <a:pPr algn="just" marL="0" indent="0" lvl="0">
              <a:lnSpc>
                <a:spcPts val="3856"/>
              </a:lnSpc>
            </a:pPr>
          </a:p>
          <a:p>
            <a:pPr algn="just" marL="0" indent="0" lvl="0">
              <a:lnSpc>
                <a:spcPts val="3856"/>
              </a:lnSpc>
            </a:pPr>
            <a:r>
              <a:rPr lang="en-US" sz="2754" spc="-137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Físicas: Siendo estas la segunda causa de muerte provocada por traumatismos.</a:t>
            </a:r>
          </a:p>
          <a:p>
            <a:pPr algn="just">
              <a:lnSpc>
                <a:spcPts val="3856"/>
              </a:lnSpc>
            </a:pPr>
            <a:r>
              <a:rPr lang="en-US" sz="2754" spc="-137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Psicológicas: Provocando el miedo a realizar actividades cotidianas por el adulto mayor.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43068" y="673014"/>
            <a:ext cx="12297888" cy="1112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16"/>
              </a:lnSpc>
            </a:pPr>
            <a:r>
              <a:rPr lang="en-US" sz="8649" spc="-432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    ntroducción al proyecto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90728" y="569624"/>
            <a:ext cx="675944" cy="1277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3"/>
              </a:lnSpc>
            </a:pPr>
            <a:r>
              <a:rPr lang="en-US" sz="9951" i="true" spc="-497">
                <a:solidFill>
                  <a:srgbClr val="F8F8F8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872881" y="1738207"/>
            <a:ext cx="7830908" cy="7145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78"/>
              </a:lnSpc>
            </a:pPr>
            <a:r>
              <a:rPr lang="en-US" sz="2556" spc="-127" u="sng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Propuesta de Solución</a:t>
            </a:r>
          </a:p>
          <a:p>
            <a:pPr algn="just" marL="0" indent="0" lvl="0">
              <a:lnSpc>
                <a:spcPts val="3578"/>
              </a:lnSpc>
            </a:pPr>
            <a:r>
              <a:rPr lang="en-US" sz="2556" spc="-127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Elden Guardian es un sistema compuesto de 2 componentes (Un Dispositivo y una APP móvil).</a:t>
            </a:r>
          </a:p>
          <a:p>
            <a:pPr algn="just" marL="0" indent="0" lvl="0">
              <a:lnSpc>
                <a:spcPts val="3578"/>
              </a:lnSpc>
            </a:pPr>
          </a:p>
          <a:p>
            <a:pPr algn="just" marL="0" indent="0" lvl="0">
              <a:lnSpc>
                <a:spcPts val="3578"/>
              </a:lnSpc>
            </a:pPr>
            <a:r>
              <a:rPr lang="en-US" sz="2556" spc="-127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Dispositivo (Para Adulto Mayor).</a:t>
            </a:r>
          </a:p>
          <a:p>
            <a:pPr algn="just" marL="551908" indent="-275954" lvl="1">
              <a:lnSpc>
                <a:spcPts val="3578"/>
              </a:lnSpc>
              <a:buFont typeface="Arial"/>
              <a:buChar char="•"/>
            </a:pPr>
            <a:r>
              <a:rPr lang="en-US" sz="2556" spc="-127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Detecta Caídas: Función Principal.  </a:t>
            </a:r>
          </a:p>
          <a:p>
            <a:pPr algn="just" marL="551908" indent="-275954" lvl="1">
              <a:lnSpc>
                <a:spcPts val="3578"/>
              </a:lnSpc>
              <a:buFont typeface="Arial"/>
              <a:buChar char="•"/>
            </a:pPr>
            <a:r>
              <a:rPr lang="en-US" sz="2556" spc="-127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Localización: Incorpora GPS para conocer ubicación.  </a:t>
            </a:r>
          </a:p>
          <a:p>
            <a:pPr algn="just">
              <a:lnSpc>
                <a:spcPts val="3578"/>
              </a:lnSpc>
            </a:pPr>
          </a:p>
          <a:p>
            <a:pPr algn="just" marL="0" indent="0" lvl="0">
              <a:lnSpc>
                <a:spcPts val="3578"/>
              </a:lnSpc>
            </a:pPr>
            <a:r>
              <a:rPr lang="en-US" sz="2556" spc="-127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APP (Para Cuidadores y/o Familiares)</a:t>
            </a:r>
          </a:p>
          <a:p>
            <a:pPr algn="just" marL="551908" indent="-275954" lvl="1">
              <a:lnSpc>
                <a:spcPts val="3578"/>
              </a:lnSpc>
              <a:buFont typeface="Arial"/>
              <a:buChar char="•"/>
            </a:pPr>
            <a:r>
              <a:rPr lang="en-US" sz="2556" spc="-127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Notificación de Caídas: Alerta de manera inmediata si se detecta una caída.</a:t>
            </a:r>
          </a:p>
          <a:p>
            <a:pPr algn="just" marL="551908" indent="-275954" lvl="1">
              <a:lnSpc>
                <a:spcPts val="3578"/>
              </a:lnSpc>
              <a:buFont typeface="Arial"/>
              <a:buChar char="•"/>
            </a:pPr>
            <a:r>
              <a:rPr lang="en-US" sz="2556" spc="-127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Localización y Emergencia: Muestra ubicación en tiempo real y permite contactar servicios de emergencia en caso de accidente.  </a:t>
            </a:r>
          </a:p>
          <a:p>
            <a:pPr algn="just" marL="551908" indent="-275954" lvl="1">
              <a:lnSpc>
                <a:spcPts val="3578"/>
              </a:lnSpc>
              <a:buFont typeface="Arial"/>
              <a:buChar char="•"/>
            </a:pPr>
            <a:r>
              <a:rPr lang="en-US" sz="2556" spc="-127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Monitoreo: Permite ver el estado del dispositivo y recordatorios para gestionar y notificar citas médicas.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480208" y="9258300"/>
            <a:ext cx="3292233" cy="739560"/>
          </a:xfrm>
          <a:custGeom>
            <a:avLst/>
            <a:gdLst/>
            <a:ahLst/>
            <a:cxnLst/>
            <a:rect r="r" b="b" t="t" l="l"/>
            <a:pathLst>
              <a:path h="739560" w="3292233">
                <a:moveTo>
                  <a:pt x="0" y="0"/>
                </a:moveTo>
                <a:lnTo>
                  <a:pt x="3292234" y="0"/>
                </a:lnTo>
                <a:lnTo>
                  <a:pt x="3292234" y="739560"/>
                </a:lnTo>
                <a:lnTo>
                  <a:pt x="0" y="7395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u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537787">
            <a:off x="14782718" y="-3427106"/>
            <a:ext cx="3213715" cy="6602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41"/>
              </a:lnSpc>
            </a:pPr>
            <a:r>
              <a:rPr lang="en-US" sz="38744" i="true" spc="-2324">
                <a:solidFill>
                  <a:srgbClr val="F8F8F8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2903202">
            <a:off x="16455316" y="942607"/>
            <a:ext cx="1507806" cy="1546494"/>
          </a:xfrm>
          <a:custGeom>
            <a:avLst/>
            <a:gdLst/>
            <a:ahLst/>
            <a:cxnLst/>
            <a:rect r="r" b="b" t="t" l="l"/>
            <a:pathLst>
              <a:path h="1546494" w="1507806">
                <a:moveTo>
                  <a:pt x="0" y="0"/>
                </a:moveTo>
                <a:lnTo>
                  <a:pt x="1507807" y="0"/>
                </a:lnTo>
                <a:lnTo>
                  <a:pt x="1507807" y="1546494"/>
                </a:lnTo>
                <a:lnTo>
                  <a:pt x="0" y="15464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230139" y="804864"/>
            <a:ext cx="9876881" cy="1166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91"/>
              </a:lnSpc>
            </a:pPr>
            <a:r>
              <a:rPr lang="en-US" sz="9149" spc="-457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bjetivos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32404" y="817220"/>
            <a:ext cx="643882" cy="1277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3"/>
              </a:lnSpc>
            </a:pPr>
            <a:r>
              <a:rPr lang="en-US" sz="9951" i="true" spc="-497">
                <a:solidFill>
                  <a:srgbClr val="F8F8F8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017407" y="5913416"/>
            <a:ext cx="11075929" cy="102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spc="-149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Integrar un módulo GPS en el dispositivo para rastrear la ubicación en tiempo real del usuario.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56315" y="6113441"/>
            <a:ext cx="3930286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50"/>
              </a:lnSpc>
            </a:pPr>
            <a:r>
              <a:rPr lang="en-US" b="true" sz="3000" spc="-150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Implementar un sistema de geolocalización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017407" y="7406962"/>
            <a:ext cx="11075929" cy="2076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spc="-149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Crear una APP móvil que se conecte con el dispositivo móvil. La APP deberá ser capaz de recibir notificaciones de caídas, mostrar la ubicación del usuario en un mapa y permitir comunicación con servicios de emergencia.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56315" y="7721287"/>
            <a:ext cx="4244664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50"/>
              </a:lnSpc>
            </a:pPr>
            <a:r>
              <a:rPr lang="en-US" b="true" sz="3000" spc="-150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Desarrollar una APP móvil intuitiva para familias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-2903202">
            <a:off x="1264178" y="6109916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2903202">
            <a:off x="1264178" y="7801736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017407" y="2451325"/>
            <a:ext cx="11075929" cy="1552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spc="-149">
                <a:solidFill>
                  <a:srgbClr val="F8F8F8"/>
                </a:solidFill>
                <a:latin typeface="Arial Nova"/>
                <a:ea typeface="Arial Nova"/>
                <a:cs typeface="Arial Nova"/>
                <a:sym typeface="Arial Nova"/>
              </a:rPr>
              <a:t>Proporcionar a los adultos mayores una mayor independencia y seguridad, así como una mayor tranquilidad y menor preocupación a las familias.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56315" y="2631093"/>
            <a:ext cx="3414456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50"/>
              </a:lnSpc>
            </a:pPr>
            <a:r>
              <a:rPr lang="en-US" b="true" sz="3000" spc="-150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Objetivo General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-2903202">
            <a:off x="1264178" y="2629447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80208" y="9258300"/>
            <a:ext cx="3292233" cy="739560"/>
          </a:xfrm>
          <a:custGeom>
            <a:avLst/>
            <a:gdLst/>
            <a:ahLst/>
            <a:cxnLst/>
            <a:rect r="r" b="b" t="t" l="l"/>
            <a:pathLst>
              <a:path h="739560" w="3292233">
                <a:moveTo>
                  <a:pt x="0" y="0"/>
                </a:moveTo>
                <a:lnTo>
                  <a:pt x="3292234" y="0"/>
                </a:lnTo>
                <a:lnTo>
                  <a:pt x="3292234" y="739560"/>
                </a:lnTo>
                <a:lnTo>
                  <a:pt x="0" y="7395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194664" y="4877723"/>
            <a:ext cx="6502390" cy="655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7"/>
              </a:lnSpc>
            </a:pPr>
            <a:r>
              <a:rPr lang="en-US" sz="5144" spc="-257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Objetivos Especificos</a:t>
            </a:r>
          </a:p>
        </p:txBody>
      </p:sp>
    </p:spTree>
  </p:cSld>
  <p:clrMapOvr>
    <a:masterClrMapping/>
  </p:clrMapOvr>
  <p:transition spd="fast">
    <p:push dir="u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3483114">
            <a:off x="16614082" y="3953735"/>
            <a:ext cx="3213715" cy="6602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41"/>
              </a:lnSpc>
            </a:pPr>
            <a:r>
              <a:rPr lang="en-US" sz="38744" i="true" spc="-2324">
                <a:solidFill>
                  <a:srgbClr val="1D2024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42124">
            <a:off x="16741300" y="8395868"/>
            <a:ext cx="1507806" cy="1546494"/>
          </a:xfrm>
          <a:custGeom>
            <a:avLst/>
            <a:gdLst/>
            <a:ahLst/>
            <a:cxnLst/>
            <a:rect r="r" b="b" t="t" l="l"/>
            <a:pathLst>
              <a:path h="1546494" w="1507806">
                <a:moveTo>
                  <a:pt x="0" y="0"/>
                </a:moveTo>
                <a:lnTo>
                  <a:pt x="1507806" y="0"/>
                </a:lnTo>
                <a:lnTo>
                  <a:pt x="1507806" y="1546495"/>
                </a:lnTo>
                <a:lnTo>
                  <a:pt x="0" y="15464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903202">
            <a:off x="57405" y="1010873"/>
            <a:ext cx="266426" cy="273263"/>
          </a:xfrm>
          <a:custGeom>
            <a:avLst/>
            <a:gdLst/>
            <a:ahLst/>
            <a:cxnLst/>
            <a:rect r="r" b="b" t="t" l="l"/>
            <a:pathLst>
              <a:path h="273263" w="266426">
                <a:moveTo>
                  <a:pt x="0" y="0"/>
                </a:moveTo>
                <a:lnTo>
                  <a:pt x="266427" y="0"/>
                </a:lnTo>
                <a:lnTo>
                  <a:pt x="266427" y="273263"/>
                </a:lnTo>
                <a:lnTo>
                  <a:pt x="0" y="2732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903202">
            <a:off x="57405" y="2887635"/>
            <a:ext cx="266426" cy="273263"/>
          </a:xfrm>
          <a:custGeom>
            <a:avLst/>
            <a:gdLst/>
            <a:ahLst/>
            <a:cxnLst/>
            <a:rect r="r" b="b" t="t" l="l"/>
            <a:pathLst>
              <a:path h="273263" w="266426">
                <a:moveTo>
                  <a:pt x="0" y="0"/>
                </a:moveTo>
                <a:lnTo>
                  <a:pt x="266427" y="0"/>
                </a:lnTo>
                <a:lnTo>
                  <a:pt x="266427" y="273263"/>
                </a:lnTo>
                <a:lnTo>
                  <a:pt x="0" y="2732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903202">
            <a:off x="57405" y="4764397"/>
            <a:ext cx="266426" cy="273263"/>
          </a:xfrm>
          <a:custGeom>
            <a:avLst/>
            <a:gdLst/>
            <a:ahLst/>
            <a:cxnLst/>
            <a:rect r="r" b="b" t="t" l="l"/>
            <a:pathLst>
              <a:path h="273263" w="266426">
                <a:moveTo>
                  <a:pt x="0" y="0"/>
                </a:moveTo>
                <a:lnTo>
                  <a:pt x="266427" y="0"/>
                </a:lnTo>
                <a:lnTo>
                  <a:pt x="266427" y="273263"/>
                </a:lnTo>
                <a:lnTo>
                  <a:pt x="0" y="2732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92691" y="7499354"/>
            <a:ext cx="4903722" cy="127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74"/>
              </a:lnSpc>
            </a:pPr>
            <a:r>
              <a:rPr lang="en-US" sz="8749" spc="-437" b="true">
                <a:solidFill>
                  <a:srgbClr val="1D2024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ispositivo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06332" y="7593786"/>
            <a:ext cx="675944" cy="1277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3"/>
              </a:lnSpc>
            </a:pPr>
            <a:r>
              <a:rPr lang="en-US" sz="9951" i="true" spc="-497">
                <a:solidFill>
                  <a:srgbClr val="1D2024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D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0" y="7819525"/>
            <a:ext cx="3791574" cy="3210453"/>
          </a:xfrm>
          <a:custGeom>
            <a:avLst/>
            <a:gdLst/>
            <a:ahLst/>
            <a:cxnLst/>
            <a:rect r="r" b="b" t="t" l="l"/>
            <a:pathLst>
              <a:path h="3210453" w="3791574">
                <a:moveTo>
                  <a:pt x="0" y="0"/>
                </a:moveTo>
                <a:lnTo>
                  <a:pt x="3791574" y="0"/>
                </a:lnTo>
                <a:lnTo>
                  <a:pt x="3791574" y="3210454"/>
                </a:lnTo>
                <a:lnTo>
                  <a:pt x="0" y="32104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0"/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0" y="8990413"/>
            <a:ext cx="3333491" cy="955716"/>
          </a:xfrm>
          <a:custGeom>
            <a:avLst/>
            <a:gdLst/>
            <a:ahLst/>
            <a:cxnLst/>
            <a:rect r="r" b="b" t="t" l="l"/>
            <a:pathLst>
              <a:path h="955716" w="3333491">
                <a:moveTo>
                  <a:pt x="0" y="0"/>
                </a:moveTo>
                <a:lnTo>
                  <a:pt x="3333491" y="0"/>
                </a:lnTo>
                <a:lnTo>
                  <a:pt x="3333491" y="955716"/>
                </a:lnTo>
                <a:lnTo>
                  <a:pt x="0" y="9557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570" t="-106056" r="0" b="-96870"/>
            </a:stretch>
          </a:blipFill>
        </p:spPr>
      </p:sp>
      <p:pic>
        <p:nvPicPr>
          <p:cNvPr name="Picture 11" id="11">
            <a:hlinkClick action="ppaction://media"/>
          </p:cNvPr>
          <p:cNvPicPr>
            <a:picLocks noChangeAspect="true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6"/>
          <a:srcRect l="35326" t="30527" r="34310" b="26490"/>
          <a:stretch>
            <a:fillRect/>
          </a:stretch>
        </p:blipFill>
        <p:spPr>
          <a:xfrm flipH="false" flipV="false" rot="0">
            <a:off x="8014555" y="1480933"/>
            <a:ext cx="7678059" cy="6113891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412700" y="1541058"/>
            <a:ext cx="6132821" cy="1026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74"/>
              </a:lnSpc>
            </a:pPr>
            <a:r>
              <a:rPr lang="en-US" sz="1981" spc="-99">
                <a:solidFill>
                  <a:srgbClr val="1D2024"/>
                </a:solidFill>
                <a:latin typeface="Arial Nova"/>
                <a:ea typeface="Arial Nova"/>
                <a:cs typeface="Arial Nova"/>
                <a:sym typeface="Arial Nova"/>
              </a:rPr>
              <a:t>El dispositivo utiliza las comunicaciones moviles LTE atravez de un modulo SIMCOM con comunicacion serial con comandos AT.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12700" y="974619"/>
            <a:ext cx="4345435" cy="421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8"/>
              </a:lnSpc>
            </a:pPr>
            <a:r>
              <a:rPr lang="en-US" sz="3303" spc="-165" b="true">
                <a:solidFill>
                  <a:srgbClr val="1D2024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Comunicacion LTE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81237" y="3416166"/>
            <a:ext cx="6132821" cy="1026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74"/>
              </a:lnSpc>
            </a:pPr>
            <a:r>
              <a:rPr lang="en-US" sz="1981" spc="-99">
                <a:solidFill>
                  <a:srgbClr val="1D2024"/>
                </a:solidFill>
                <a:latin typeface="Arial Nova"/>
                <a:ea typeface="Arial Nova"/>
                <a:cs typeface="Arial Nova"/>
                <a:sym typeface="Arial Nova"/>
              </a:rPr>
              <a:t>utiliza uno modulo de unidad de medicion inercial para la detecion de caidas el cual esta compuesto de un acelerometro y giroscopio.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12700" y="2851381"/>
            <a:ext cx="5804525" cy="421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8"/>
              </a:lnSpc>
            </a:pPr>
            <a:r>
              <a:rPr lang="en-US" sz="3303" spc="-165" b="true">
                <a:solidFill>
                  <a:srgbClr val="1D2024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IMU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12700" y="5294582"/>
            <a:ext cx="6132821" cy="1026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74"/>
              </a:lnSpc>
            </a:pPr>
            <a:r>
              <a:rPr lang="en-US" sz="1981" spc="-99">
                <a:solidFill>
                  <a:srgbClr val="1D2024"/>
                </a:solidFill>
                <a:latin typeface="Arial Nova"/>
                <a:ea typeface="Arial Nova"/>
                <a:cs typeface="Arial Nova"/>
                <a:sym typeface="Arial Nova"/>
              </a:rPr>
              <a:t>para la detección de localización utiliza un modulo gps beitian el cual esta diseñado para drone pero al utilizar el mismo protocolo (NMEA) se logro la integracion con el dispositivo.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12700" y="4728143"/>
            <a:ext cx="6926155" cy="421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8"/>
              </a:lnSpc>
            </a:pPr>
            <a:r>
              <a:rPr lang="en-US" sz="3303" spc="-165" b="true">
                <a:solidFill>
                  <a:srgbClr val="1D2024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GPS</a:t>
            </a:r>
          </a:p>
        </p:txBody>
      </p:sp>
    </p:spTree>
  </p:cSld>
  <p:clrMapOvr>
    <a:masterClrMapping/>
  </p:clrMapOvr>
  <p:transition spd="fast">
    <p:push dir="u"/>
  </p:transition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3483114">
            <a:off x="16749675" y="4023617"/>
            <a:ext cx="3213715" cy="6602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41"/>
              </a:lnSpc>
            </a:pPr>
            <a:r>
              <a:rPr lang="en-US" sz="38744" i="true" spc="-2324">
                <a:solidFill>
                  <a:srgbClr val="1D2024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42124">
            <a:off x="16741300" y="8395868"/>
            <a:ext cx="1507806" cy="1546494"/>
          </a:xfrm>
          <a:custGeom>
            <a:avLst/>
            <a:gdLst/>
            <a:ahLst/>
            <a:cxnLst/>
            <a:rect r="r" b="b" t="t" l="l"/>
            <a:pathLst>
              <a:path h="1546494" w="1507806">
                <a:moveTo>
                  <a:pt x="0" y="0"/>
                </a:moveTo>
                <a:lnTo>
                  <a:pt x="1507806" y="0"/>
                </a:lnTo>
                <a:lnTo>
                  <a:pt x="1507806" y="1546495"/>
                </a:lnTo>
                <a:lnTo>
                  <a:pt x="0" y="15464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903202">
            <a:off x="57405" y="1010873"/>
            <a:ext cx="266426" cy="273263"/>
          </a:xfrm>
          <a:custGeom>
            <a:avLst/>
            <a:gdLst/>
            <a:ahLst/>
            <a:cxnLst/>
            <a:rect r="r" b="b" t="t" l="l"/>
            <a:pathLst>
              <a:path h="273263" w="266426">
                <a:moveTo>
                  <a:pt x="0" y="0"/>
                </a:moveTo>
                <a:lnTo>
                  <a:pt x="266427" y="0"/>
                </a:lnTo>
                <a:lnTo>
                  <a:pt x="266427" y="273263"/>
                </a:lnTo>
                <a:lnTo>
                  <a:pt x="0" y="2732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903202">
            <a:off x="57405" y="2887635"/>
            <a:ext cx="266426" cy="273263"/>
          </a:xfrm>
          <a:custGeom>
            <a:avLst/>
            <a:gdLst/>
            <a:ahLst/>
            <a:cxnLst/>
            <a:rect r="r" b="b" t="t" l="l"/>
            <a:pathLst>
              <a:path h="273263" w="266426">
                <a:moveTo>
                  <a:pt x="0" y="0"/>
                </a:moveTo>
                <a:lnTo>
                  <a:pt x="266427" y="0"/>
                </a:lnTo>
                <a:lnTo>
                  <a:pt x="266427" y="273263"/>
                </a:lnTo>
                <a:lnTo>
                  <a:pt x="0" y="2732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903202">
            <a:off x="57405" y="4764397"/>
            <a:ext cx="266426" cy="273263"/>
          </a:xfrm>
          <a:custGeom>
            <a:avLst/>
            <a:gdLst/>
            <a:ahLst/>
            <a:cxnLst/>
            <a:rect r="r" b="b" t="t" l="l"/>
            <a:pathLst>
              <a:path h="273263" w="266426">
                <a:moveTo>
                  <a:pt x="0" y="0"/>
                </a:moveTo>
                <a:lnTo>
                  <a:pt x="266427" y="0"/>
                </a:lnTo>
                <a:lnTo>
                  <a:pt x="266427" y="273263"/>
                </a:lnTo>
                <a:lnTo>
                  <a:pt x="0" y="2732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7" id="7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>
                  <p14:trim st="0.0000" end="0.0000"/>
                </p14:media>
              </p:ext>
            </p:extLst>
          </p:nvPr>
        </p:nvPicPr>
        <p:blipFill>
          <a:blip r:embed="rId4"/>
          <a:srcRect l="1591" t="289" r="0" b="4529"/>
          <a:stretch>
            <a:fillRect/>
          </a:stretch>
        </p:blipFill>
        <p:spPr>
          <a:xfrm flipH="false" flipV="false" rot="0">
            <a:off x="6878324" y="1085107"/>
            <a:ext cx="4095036" cy="8801704"/>
          </a:xfrm>
          <a:prstGeom prst="rect">
            <a:avLst/>
          </a:prstGeom>
        </p:spPr>
      </p:pic>
      <p:sp>
        <p:nvSpPr>
          <p:cNvPr name="Freeform 8" id="8"/>
          <p:cNvSpPr/>
          <p:nvPr/>
        </p:nvSpPr>
        <p:spPr>
          <a:xfrm flipH="false" flipV="false" rot="0">
            <a:off x="6602671" y="869026"/>
            <a:ext cx="4577529" cy="9112048"/>
          </a:xfrm>
          <a:custGeom>
            <a:avLst/>
            <a:gdLst/>
            <a:ahLst/>
            <a:cxnLst/>
            <a:rect r="r" b="b" t="t" l="l"/>
            <a:pathLst>
              <a:path h="9112048" w="4577529">
                <a:moveTo>
                  <a:pt x="0" y="0"/>
                </a:moveTo>
                <a:lnTo>
                  <a:pt x="4577529" y="0"/>
                </a:lnTo>
                <a:lnTo>
                  <a:pt x="4577529" y="9112048"/>
                </a:lnTo>
                <a:lnTo>
                  <a:pt x="0" y="91120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69" t="0" r="-12975" b="-9141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79824" y="7595422"/>
            <a:ext cx="1505594" cy="127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74"/>
              </a:lnSpc>
            </a:pPr>
            <a:r>
              <a:rPr lang="en-US" sz="8749" spc="-437" b="true">
                <a:solidFill>
                  <a:srgbClr val="1D2024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PP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06332" y="7593786"/>
            <a:ext cx="675944" cy="1277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3"/>
              </a:lnSpc>
            </a:pPr>
            <a:r>
              <a:rPr lang="en-US" sz="9951" i="true" spc="-497">
                <a:solidFill>
                  <a:srgbClr val="1D2024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A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0" y="7819525"/>
            <a:ext cx="3791574" cy="3210453"/>
          </a:xfrm>
          <a:custGeom>
            <a:avLst/>
            <a:gdLst/>
            <a:ahLst/>
            <a:cxnLst/>
            <a:rect r="r" b="b" t="t" l="l"/>
            <a:pathLst>
              <a:path h="3210453" w="3791574">
                <a:moveTo>
                  <a:pt x="0" y="0"/>
                </a:moveTo>
                <a:lnTo>
                  <a:pt x="3791574" y="0"/>
                </a:lnTo>
                <a:lnTo>
                  <a:pt x="3791574" y="3210454"/>
                </a:lnTo>
                <a:lnTo>
                  <a:pt x="0" y="32104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0"/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0" y="8990413"/>
            <a:ext cx="3333491" cy="955716"/>
          </a:xfrm>
          <a:custGeom>
            <a:avLst/>
            <a:gdLst/>
            <a:ahLst/>
            <a:cxnLst/>
            <a:rect r="r" b="b" t="t" l="l"/>
            <a:pathLst>
              <a:path h="955716" w="3333491">
                <a:moveTo>
                  <a:pt x="0" y="0"/>
                </a:moveTo>
                <a:lnTo>
                  <a:pt x="3333491" y="0"/>
                </a:lnTo>
                <a:lnTo>
                  <a:pt x="3333491" y="955716"/>
                </a:lnTo>
                <a:lnTo>
                  <a:pt x="0" y="95571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570" t="-106056" r="0" b="-96870"/>
            </a:stretch>
          </a:blipFill>
        </p:spPr>
      </p:sp>
      <p:pic>
        <p:nvPicPr>
          <p:cNvPr name="Picture 13" id="13">
            <a:hlinkClick action="ppaction://media"/>
          </p:cNvPr>
          <p:cNvPicPr>
            <a:picLocks noChangeAspect="true"/>
          </p:cNvPicPr>
          <p:nvPr>
            <a:videoFile r:link="rId11"/>
            <p:extLst>
              <p:ext uri="{DAA4B4D4-6D71-4841-9C94-3DE7FCFB9230}">
                <p14:media xmlns:p14="http://schemas.microsoft.com/office/powerpoint/2010/main" r:embed="rId12">
                  <p14:trim st="24310.0000" end="0.0000"/>
                </p14:media>
              </p:ext>
            </p:extLst>
          </p:nvPr>
        </p:nvPicPr>
        <p:blipFill>
          <a:blip r:embed="rId10"/>
          <a:srcRect l="0" t="617" r="0" b="617"/>
          <a:stretch>
            <a:fillRect/>
          </a:stretch>
        </p:blipFill>
        <p:spPr>
          <a:xfrm flipH="false" flipV="false" rot="0">
            <a:off x="11894575" y="957172"/>
            <a:ext cx="4047467" cy="8994371"/>
          </a:xfrm>
          <a:prstGeom prst="rect">
            <a:avLst/>
          </a:prstGeom>
        </p:spPr>
      </p:pic>
      <p:sp>
        <p:nvSpPr>
          <p:cNvPr name="Freeform 14" id="14"/>
          <p:cNvSpPr/>
          <p:nvPr/>
        </p:nvSpPr>
        <p:spPr>
          <a:xfrm flipH="false" flipV="false" rot="0">
            <a:off x="11513575" y="809963"/>
            <a:ext cx="4607200" cy="9171111"/>
          </a:xfrm>
          <a:custGeom>
            <a:avLst/>
            <a:gdLst/>
            <a:ahLst/>
            <a:cxnLst/>
            <a:rect r="r" b="b" t="t" l="l"/>
            <a:pathLst>
              <a:path h="9171111" w="4607200">
                <a:moveTo>
                  <a:pt x="0" y="0"/>
                </a:moveTo>
                <a:lnTo>
                  <a:pt x="4607200" y="0"/>
                </a:lnTo>
                <a:lnTo>
                  <a:pt x="4607200" y="9171111"/>
                </a:lnTo>
                <a:lnTo>
                  <a:pt x="0" y="91711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69" t="0" r="-12975" b="-9141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12700" y="1541058"/>
            <a:ext cx="6132821" cy="679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74"/>
              </a:lnSpc>
            </a:pPr>
            <a:r>
              <a:rPr lang="en-US" sz="1981" spc="-99">
                <a:solidFill>
                  <a:srgbClr val="1D2024"/>
                </a:solidFill>
                <a:latin typeface="Arial Nova"/>
                <a:ea typeface="Arial Nova"/>
                <a:cs typeface="Arial Nova"/>
                <a:sym typeface="Arial Nova"/>
              </a:rPr>
              <a:t>En el Menú de la APP se logra apreciar de primera mano el mapa junto a la ubicación de quien posea el dispositivo.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12700" y="974619"/>
            <a:ext cx="4345435" cy="421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8"/>
              </a:lnSpc>
            </a:pPr>
            <a:r>
              <a:rPr lang="en-US" sz="3303" spc="-165" b="true">
                <a:solidFill>
                  <a:srgbClr val="1D2024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Mapa en tiempo real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81237" y="3416166"/>
            <a:ext cx="6132821" cy="679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74"/>
              </a:lnSpc>
            </a:pPr>
            <a:r>
              <a:rPr lang="en-US" sz="1981" spc="-99">
                <a:solidFill>
                  <a:srgbClr val="1D2024"/>
                </a:solidFill>
                <a:latin typeface="Arial Nova"/>
                <a:ea typeface="Arial Nova"/>
                <a:cs typeface="Arial Nova"/>
                <a:sym typeface="Arial Nova"/>
              </a:rPr>
              <a:t>Se muestra también el porcentaje de batería del dispositivo y su estado, ya sea Conectado o Desconectado.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12700" y="2851381"/>
            <a:ext cx="5804525" cy="421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8"/>
              </a:lnSpc>
            </a:pPr>
            <a:r>
              <a:rPr lang="en-US" sz="3303" spc="-165" b="true">
                <a:solidFill>
                  <a:srgbClr val="1D2024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Estado de Batería y Conexión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12700" y="5294582"/>
            <a:ext cx="6132821" cy="679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74"/>
              </a:lnSpc>
            </a:pPr>
            <a:r>
              <a:rPr lang="en-US" sz="1981" spc="-99">
                <a:solidFill>
                  <a:srgbClr val="1D2024"/>
                </a:solidFill>
                <a:latin typeface="Arial Nova"/>
                <a:ea typeface="Arial Nova"/>
                <a:cs typeface="Arial Nova"/>
                <a:sym typeface="Arial Nova"/>
              </a:rPr>
              <a:t>Abajo del todo aparecerán tus recordatorios guardados con anterioridad.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12700" y="4728143"/>
            <a:ext cx="6926155" cy="421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8"/>
              </a:lnSpc>
            </a:pPr>
            <a:r>
              <a:rPr lang="en-US" sz="3303" spc="-165" b="true">
                <a:solidFill>
                  <a:srgbClr val="1D2024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Recordatorios</a:t>
            </a:r>
          </a:p>
        </p:txBody>
      </p:sp>
    </p:spTree>
  </p:cSld>
  <p:clrMapOvr>
    <a:masterClrMapping/>
  </p:clrMapOvr>
  <p:transition spd="fast">
    <p:push dir="u"/>
  </p:transition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537787">
            <a:off x="14779402" y="-3427366"/>
            <a:ext cx="3213715" cy="6645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41"/>
              </a:lnSpc>
            </a:pPr>
            <a:r>
              <a:rPr lang="en-US" sz="38744" i="true" spc="-1937">
                <a:solidFill>
                  <a:srgbClr val="F8F8F8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2903202">
            <a:off x="16397959" y="1204899"/>
            <a:ext cx="1507806" cy="1546494"/>
          </a:xfrm>
          <a:custGeom>
            <a:avLst/>
            <a:gdLst/>
            <a:ahLst/>
            <a:cxnLst/>
            <a:rect r="r" b="b" t="t" l="l"/>
            <a:pathLst>
              <a:path h="1546494" w="1507806">
                <a:moveTo>
                  <a:pt x="0" y="0"/>
                </a:moveTo>
                <a:lnTo>
                  <a:pt x="1507806" y="0"/>
                </a:lnTo>
                <a:lnTo>
                  <a:pt x="1507806" y="1546494"/>
                </a:lnTo>
                <a:lnTo>
                  <a:pt x="0" y="15464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879442" y="465187"/>
            <a:ext cx="7652896" cy="1166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91"/>
              </a:lnSpc>
            </a:pPr>
            <a:r>
              <a:rPr lang="en-US" sz="9149" spc="-457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lcances 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80133"/>
            <a:ext cx="675944" cy="1277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3"/>
              </a:lnSpc>
            </a:pPr>
            <a:r>
              <a:rPr lang="en-US" sz="9951" i="true" spc="-497">
                <a:solidFill>
                  <a:srgbClr val="F8F8F8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6672" y="2657445"/>
            <a:ext cx="5837766" cy="974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3999" spc="-199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Creación de dispositivo Wearable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05021" y="1385879"/>
            <a:ext cx="7652896" cy="1166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91"/>
              </a:lnSpc>
            </a:pPr>
            <a:r>
              <a:rPr lang="en-US" sz="9149" spc="-457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limitaciones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237182" y="2787316"/>
            <a:ext cx="4781502" cy="498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3999" spc="-199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Capital 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2903202">
            <a:off x="974535" y="2889860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3" y="0"/>
                </a:lnTo>
                <a:lnTo>
                  <a:pt x="322623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903202">
            <a:off x="7799120" y="2889860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366672" y="3892826"/>
            <a:ext cx="5208904" cy="1927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3999" spc="-199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Configuración de Servidor e integraciones en Firebase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-2903202">
            <a:off x="974535" y="3973423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3" y="0"/>
                </a:lnTo>
                <a:lnTo>
                  <a:pt x="322623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80208" y="9258300"/>
            <a:ext cx="3292233" cy="739560"/>
          </a:xfrm>
          <a:custGeom>
            <a:avLst/>
            <a:gdLst/>
            <a:ahLst/>
            <a:cxnLst/>
            <a:rect r="r" b="b" t="t" l="l"/>
            <a:pathLst>
              <a:path h="739560" w="3292233">
                <a:moveTo>
                  <a:pt x="0" y="0"/>
                </a:moveTo>
                <a:lnTo>
                  <a:pt x="3292234" y="0"/>
                </a:lnTo>
                <a:lnTo>
                  <a:pt x="3292234" y="739560"/>
                </a:lnTo>
                <a:lnTo>
                  <a:pt x="0" y="7395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2903202">
            <a:off x="7799120" y="3904870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1"/>
                </a:lnTo>
                <a:lnTo>
                  <a:pt x="0" y="3309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2903202">
            <a:off x="867388" y="5978112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366672" y="6017858"/>
            <a:ext cx="5208904" cy="1927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3999" spc="-199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Creación de aplicación movil para monitoreo de ubicación y alerta de caida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237182" y="3848071"/>
            <a:ext cx="5755524" cy="498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3999" spc="-199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Impedimentos tecnicos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-2903202">
            <a:off x="7799120" y="4918585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1"/>
                </a:lnTo>
                <a:lnTo>
                  <a:pt x="0" y="3309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8237182" y="4908826"/>
            <a:ext cx="5755524" cy="498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3999" spc="-199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Disponibilidiad </a:t>
            </a:r>
          </a:p>
        </p:txBody>
      </p:sp>
    </p:spTree>
  </p:cSld>
  <p:clrMapOvr>
    <a:masterClrMapping/>
  </p:clrMapOvr>
  <p:transition spd="fast">
    <p:push dir="u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D7486">
                <a:alpha val="100000"/>
              </a:srgbClr>
            </a:gs>
            <a:gs pos="100000">
              <a:srgbClr val="0A0D1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-7891318">
            <a:off x="-297034" y="143530"/>
            <a:ext cx="3213715" cy="6602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41"/>
              </a:lnSpc>
            </a:pPr>
            <a:r>
              <a:rPr lang="en-US" sz="38744" i="true" spc="-2324">
                <a:solidFill>
                  <a:srgbClr val="F8F8F8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10267691">
            <a:off x="1306466" y="563670"/>
            <a:ext cx="1507806" cy="1546494"/>
          </a:xfrm>
          <a:custGeom>
            <a:avLst/>
            <a:gdLst/>
            <a:ahLst/>
            <a:cxnLst/>
            <a:rect r="r" b="b" t="t" l="l"/>
            <a:pathLst>
              <a:path h="1546494" w="1507806">
                <a:moveTo>
                  <a:pt x="0" y="0"/>
                </a:moveTo>
                <a:lnTo>
                  <a:pt x="1507807" y="0"/>
                </a:lnTo>
                <a:lnTo>
                  <a:pt x="1507807" y="1546494"/>
                </a:lnTo>
                <a:lnTo>
                  <a:pt x="0" y="15464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903202">
            <a:off x="8473931" y="973287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903202">
            <a:off x="8473931" y="1852761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903202">
            <a:off x="8473931" y="2913211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903202">
            <a:off x="8473931" y="3973660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970843" y="4897936"/>
            <a:ext cx="7558098" cy="4874973"/>
          </a:xfrm>
          <a:custGeom>
            <a:avLst/>
            <a:gdLst/>
            <a:ahLst/>
            <a:cxnLst/>
            <a:rect r="r" b="b" t="t" l="l"/>
            <a:pathLst>
              <a:path h="4874973" w="7558098">
                <a:moveTo>
                  <a:pt x="0" y="0"/>
                </a:moveTo>
                <a:lnTo>
                  <a:pt x="7558098" y="0"/>
                </a:lnTo>
                <a:lnTo>
                  <a:pt x="7558098" y="4874973"/>
                </a:lnTo>
                <a:lnTo>
                  <a:pt x="0" y="48749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347698" y="6998558"/>
            <a:ext cx="5610332" cy="1009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0"/>
              </a:lnSpc>
            </a:pPr>
            <a:r>
              <a:rPr lang="en-US" sz="7958" spc="-636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etodologia de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6884416"/>
            <a:ext cx="675944" cy="1276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3"/>
              </a:lnSpc>
            </a:pPr>
            <a:r>
              <a:rPr lang="en-US" sz="9951" i="true" spc="-796">
                <a:solidFill>
                  <a:srgbClr val="F8F8F8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7946454"/>
            <a:ext cx="3499377" cy="1171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91"/>
              </a:lnSpc>
            </a:pPr>
            <a:r>
              <a:rPr lang="en-US" sz="9149" spc="-731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trabajo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970843" y="941888"/>
            <a:ext cx="7520130" cy="498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3999" spc="-199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Marco de trabajo: Scrum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970843" y="1821363"/>
            <a:ext cx="6422414" cy="498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3999" spc="-199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Épicas y Historias de Usuario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970843" y="2881812"/>
            <a:ext cx="1319519" cy="498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3999" spc="-199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Sprint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970843" y="3942262"/>
            <a:ext cx="8113490" cy="498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3999" spc="-199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Técnicas de estimación y priorización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-102878" y="7711806"/>
            <a:ext cx="3791574" cy="3210453"/>
          </a:xfrm>
          <a:custGeom>
            <a:avLst/>
            <a:gdLst/>
            <a:ahLst/>
            <a:cxnLst/>
            <a:rect r="r" b="b" t="t" l="l"/>
            <a:pathLst>
              <a:path h="3210453" w="3791574">
                <a:moveTo>
                  <a:pt x="0" y="0"/>
                </a:moveTo>
                <a:lnTo>
                  <a:pt x="3791574" y="0"/>
                </a:lnTo>
                <a:lnTo>
                  <a:pt x="3791574" y="3210453"/>
                </a:lnTo>
                <a:lnTo>
                  <a:pt x="0" y="32104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0"/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480208" y="9258300"/>
            <a:ext cx="3292233" cy="739560"/>
          </a:xfrm>
          <a:custGeom>
            <a:avLst/>
            <a:gdLst/>
            <a:ahLst/>
            <a:cxnLst/>
            <a:rect r="r" b="b" t="t" l="l"/>
            <a:pathLst>
              <a:path h="739560" w="3292233">
                <a:moveTo>
                  <a:pt x="0" y="0"/>
                </a:moveTo>
                <a:lnTo>
                  <a:pt x="3292234" y="0"/>
                </a:lnTo>
                <a:lnTo>
                  <a:pt x="3292234" y="739560"/>
                </a:lnTo>
                <a:lnTo>
                  <a:pt x="0" y="7395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u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D7486">
                <a:alpha val="100000"/>
              </a:srgbClr>
            </a:gs>
            <a:gs pos="100000">
              <a:srgbClr val="0A0D1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-7891318">
            <a:off x="-297034" y="143530"/>
            <a:ext cx="3213715" cy="6602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41"/>
              </a:lnSpc>
            </a:pPr>
            <a:r>
              <a:rPr lang="en-US" sz="38744" i="true" spc="-2324">
                <a:solidFill>
                  <a:srgbClr val="F8F8F8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10267691">
            <a:off x="1306466" y="563670"/>
            <a:ext cx="1507806" cy="1546494"/>
          </a:xfrm>
          <a:custGeom>
            <a:avLst/>
            <a:gdLst/>
            <a:ahLst/>
            <a:cxnLst/>
            <a:rect r="r" b="b" t="t" l="l"/>
            <a:pathLst>
              <a:path h="1546494" w="1507806">
                <a:moveTo>
                  <a:pt x="0" y="0"/>
                </a:moveTo>
                <a:lnTo>
                  <a:pt x="1507807" y="0"/>
                </a:lnTo>
                <a:lnTo>
                  <a:pt x="1507807" y="1546494"/>
                </a:lnTo>
                <a:lnTo>
                  <a:pt x="0" y="15464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128210" y="1622716"/>
            <a:ext cx="14981795" cy="7322352"/>
          </a:xfrm>
          <a:custGeom>
            <a:avLst/>
            <a:gdLst/>
            <a:ahLst/>
            <a:cxnLst/>
            <a:rect r="r" b="b" t="t" l="l"/>
            <a:pathLst>
              <a:path h="7322352" w="14981795">
                <a:moveTo>
                  <a:pt x="0" y="0"/>
                </a:moveTo>
                <a:lnTo>
                  <a:pt x="14981795" y="0"/>
                </a:lnTo>
                <a:lnTo>
                  <a:pt x="14981795" y="7322352"/>
                </a:lnTo>
                <a:lnTo>
                  <a:pt x="0" y="73223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498482" y="346577"/>
            <a:ext cx="675944" cy="1276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3"/>
              </a:lnSpc>
            </a:pPr>
            <a:r>
              <a:rPr lang="en-US" sz="9951" i="true" spc="-796">
                <a:solidFill>
                  <a:srgbClr val="F8F8F8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447839" y="389300"/>
            <a:ext cx="4226198" cy="1171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91"/>
              </a:lnSpc>
            </a:pPr>
            <a:r>
              <a:rPr lang="en-US" sz="9149" spc="-731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oadmap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4583" y="7827675"/>
            <a:ext cx="3791574" cy="3210453"/>
          </a:xfrm>
          <a:custGeom>
            <a:avLst/>
            <a:gdLst/>
            <a:ahLst/>
            <a:cxnLst/>
            <a:rect r="r" b="b" t="t" l="l"/>
            <a:pathLst>
              <a:path h="3210453" w="3791574">
                <a:moveTo>
                  <a:pt x="0" y="0"/>
                </a:moveTo>
                <a:lnTo>
                  <a:pt x="3791574" y="0"/>
                </a:lnTo>
                <a:lnTo>
                  <a:pt x="3791574" y="3210453"/>
                </a:lnTo>
                <a:lnTo>
                  <a:pt x="0" y="32104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0"/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80208" y="9258300"/>
            <a:ext cx="3292233" cy="739560"/>
          </a:xfrm>
          <a:custGeom>
            <a:avLst/>
            <a:gdLst/>
            <a:ahLst/>
            <a:cxnLst/>
            <a:rect r="r" b="b" t="t" l="l"/>
            <a:pathLst>
              <a:path h="739560" w="3292233">
                <a:moveTo>
                  <a:pt x="0" y="0"/>
                </a:moveTo>
                <a:lnTo>
                  <a:pt x="3292234" y="0"/>
                </a:lnTo>
                <a:lnTo>
                  <a:pt x="3292234" y="739560"/>
                </a:lnTo>
                <a:lnTo>
                  <a:pt x="0" y="7395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u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D7486">
                <a:alpha val="100000"/>
              </a:srgbClr>
            </a:gs>
            <a:gs pos="100000">
              <a:srgbClr val="0A0D1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537787">
            <a:off x="14782718" y="-3427106"/>
            <a:ext cx="3213715" cy="6602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41"/>
              </a:lnSpc>
            </a:pPr>
            <a:r>
              <a:rPr lang="en-US" sz="38744" i="true" spc="-2324">
                <a:solidFill>
                  <a:srgbClr val="F8F8F8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2903202">
            <a:off x="16397959" y="1204899"/>
            <a:ext cx="1507806" cy="1546494"/>
          </a:xfrm>
          <a:custGeom>
            <a:avLst/>
            <a:gdLst/>
            <a:ahLst/>
            <a:cxnLst/>
            <a:rect r="r" b="b" t="t" l="l"/>
            <a:pathLst>
              <a:path h="1546494" w="1507806">
                <a:moveTo>
                  <a:pt x="0" y="0"/>
                </a:moveTo>
                <a:lnTo>
                  <a:pt x="1507806" y="0"/>
                </a:lnTo>
                <a:lnTo>
                  <a:pt x="1507806" y="1546494"/>
                </a:lnTo>
                <a:lnTo>
                  <a:pt x="0" y="15464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848620" y="1309548"/>
            <a:ext cx="7652896" cy="1171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91"/>
              </a:lnSpc>
            </a:pPr>
            <a:r>
              <a:rPr lang="en-US" sz="9149" spc="-731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rquitectura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266825"/>
            <a:ext cx="675944" cy="1276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3"/>
              </a:lnSpc>
            </a:pPr>
            <a:r>
              <a:rPr lang="en-US" sz="9951" i="true" spc="-796">
                <a:solidFill>
                  <a:srgbClr val="F8F8F8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62824" y="2299864"/>
            <a:ext cx="7652896" cy="1171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91"/>
              </a:lnSpc>
            </a:pPr>
            <a:r>
              <a:rPr lang="en-US" sz="9149" spc="-731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de Software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532998" y="600902"/>
            <a:ext cx="4470822" cy="8382792"/>
          </a:xfrm>
          <a:custGeom>
            <a:avLst/>
            <a:gdLst/>
            <a:ahLst/>
            <a:cxnLst/>
            <a:rect r="r" b="b" t="t" l="l"/>
            <a:pathLst>
              <a:path h="8382792" w="4470822">
                <a:moveTo>
                  <a:pt x="0" y="0"/>
                </a:moveTo>
                <a:lnTo>
                  <a:pt x="4470822" y="0"/>
                </a:lnTo>
                <a:lnTo>
                  <a:pt x="4470822" y="8382792"/>
                </a:lnTo>
                <a:lnTo>
                  <a:pt x="0" y="83827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62824" y="3671115"/>
            <a:ext cx="6246765" cy="396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3133" spc="-250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Arquitectura orientada a eventos (EDA)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480208" y="9258300"/>
            <a:ext cx="3292233" cy="739560"/>
          </a:xfrm>
          <a:custGeom>
            <a:avLst/>
            <a:gdLst/>
            <a:ahLst/>
            <a:cxnLst/>
            <a:rect r="r" b="b" t="t" l="l"/>
            <a:pathLst>
              <a:path h="739560" w="3292233">
                <a:moveTo>
                  <a:pt x="0" y="0"/>
                </a:moveTo>
                <a:lnTo>
                  <a:pt x="3292234" y="0"/>
                </a:lnTo>
                <a:lnTo>
                  <a:pt x="3292234" y="739560"/>
                </a:lnTo>
                <a:lnTo>
                  <a:pt x="0" y="7395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80665" y="4401836"/>
            <a:ext cx="6246765" cy="1142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3133" spc="-250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Serverless :</a:t>
            </a:r>
          </a:p>
          <a:p>
            <a:pPr algn="l">
              <a:lnSpc>
                <a:spcPts val="2976"/>
              </a:lnSpc>
            </a:pPr>
            <a:r>
              <a:rPr lang="en-US" sz="3133" spc="-250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   -Baas  (Backend as a Services)</a:t>
            </a:r>
          </a:p>
          <a:p>
            <a:pPr algn="l">
              <a:lnSpc>
                <a:spcPts val="2976"/>
              </a:lnSpc>
            </a:pPr>
            <a:r>
              <a:rPr lang="en-US" sz="3133" spc="-250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 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-2903202">
            <a:off x="688528" y="3665736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2903202">
            <a:off x="688528" y="4539038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2903202">
            <a:off x="688528" y="5421157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80665" y="5420744"/>
            <a:ext cx="6246765" cy="396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3133" spc="-250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publisher-Subscriber</a:t>
            </a:r>
          </a:p>
        </p:txBody>
      </p:sp>
    </p:spTree>
  </p:cSld>
  <p:clrMapOvr>
    <a:masterClrMapping/>
  </p:clrMapOvr>
  <p:transition spd="fast">
    <p:push dir="u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D7486">
                <a:alpha val="100000"/>
              </a:srgbClr>
            </a:gs>
            <a:gs pos="100000">
              <a:srgbClr val="0A0D1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08551" y="2554212"/>
            <a:ext cx="1507806" cy="1546494"/>
          </a:xfrm>
          <a:custGeom>
            <a:avLst/>
            <a:gdLst/>
            <a:ahLst/>
            <a:cxnLst/>
            <a:rect r="r" b="b" t="t" l="l"/>
            <a:pathLst>
              <a:path h="1546494" w="1507806">
                <a:moveTo>
                  <a:pt x="0" y="0"/>
                </a:moveTo>
                <a:lnTo>
                  <a:pt x="1507806" y="0"/>
                </a:lnTo>
                <a:lnTo>
                  <a:pt x="1507806" y="1546494"/>
                </a:lnTo>
                <a:lnTo>
                  <a:pt x="0" y="15464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903202">
            <a:off x="1098214" y="1164874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903202">
            <a:off x="8170050" y="4992604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97697" y="815305"/>
            <a:ext cx="16561603" cy="7473423"/>
          </a:xfrm>
          <a:custGeom>
            <a:avLst/>
            <a:gdLst/>
            <a:ahLst/>
            <a:cxnLst/>
            <a:rect r="r" b="b" t="t" l="l"/>
            <a:pathLst>
              <a:path h="7473423" w="16561603">
                <a:moveTo>
                  <a:pt x="0" y="0"/>
                </a:moveTo>
                <a:lnTo>
                  <a:pt x="16561603" y="0"/>
                </a:lnTo>
                <a:lnTo>
                  <a:pt x="16561603" y="7473424"/>
                </a:lnTo>
                <a:lnTo>
                  <a:pt x="0" y="74734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3440989">
            <a:off x="15722275" y="-1941037"/>
            <a:ext cx="3213715" cy="6602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41"/>
              </a:lnSpc>
            </a:pPr>
            <a:r>
              <a:rPr lang="en-US" sz="38744" i="true" spc="-2324">
                <a:solidFill>
                  <a:srgbClr val="1D2024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33473" y="7121938"/>
            <a:ext cx="7652896" cy="1166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91"/>
              </a:lnSpc>
            </a:pPr>
            <a:r>
              <a:rPr lang="en-US" sz="9149" spc="-731" b="true">
                <a:solidFill>
                  <a:srgbClr val="1D2024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odelo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7072521"/>
            <a:ext cx="675944" cy="1277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3"/>
              </a:lnSpc>
            </a:pPr>
            <a:r>
              <a:rPr lang="en-US" sz="9951" i="true" spc="-796">
                <a:solidFill>
                  <a:srgbClr val="1D2024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059024"/>
            <a:ext cx="7652896" cy="1171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91"/>
              </a:lnSpc>
            </a:pPr>
            <a:r>
              <a:rPr lang="en-US" sz="9149" spc="-731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de datos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4616337" y="9230667"/>
            <a:ext cx="3292233" cy="739560"/>
          </a:xfrm>
          <a:custGeom>
            <a:avLst/>
            <a:gdLst/>
            <a:ahLst/>
            <a:cxnLst/>
            <a:rect r="r" b="b" t="t" l="l"/>
            <a:pathLst>
              <a:path h="739560" w="3292233">
                <a:moveTo>
                  <a:pt x="0" y="0"/>
                </a:moveTo>
                <a:lnTo>
                  <a:pt x="3292234" y="0"/>
                </a:lnTo>
                <a:lnTo>
                  <a:pt x="3292234" y="739559"/>
                </a:lnTo>
                <a:lnTo>
                  <a:pt x="0" y="7395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u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D7486">
                <a:alpha val="100000"/>
              </a:srgbClr>
            </a:gs>
            <a:gs pos="100000">
              <a:srgbClr val="0A0D1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537787">
            <a:off x="14782718" y="-3427106"/>
            <a:ext cx="3213715" cy="6602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41"/>
              </a:lnSpc>
            </a:pPr>
            <a:r>
              <a:rPr lang="en-US" sz="38744" i="true" spc="-2324">
                <a:solidFill>
                  <a:srgbClr val="F8F8F8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2903202">
            <a:off x="16397959" y="1204899"/>
            <a:ext cx="1507806" cy="1546494"/>
          </a:xfrm>
          <a:custGeom>
            <a:avLst/>
            <a:gdLst/>
            <a:ahLst/>
            <a:cxnLst/>
            <a:rect r="r" b="b" t="t" l="l"/>
            <a:pathLst>
              <a:path h="1546494" w="1507806">
                <a:moveTo>
                  <a:pt x="0" y="0"/>
                </a:moveTo>
                <a:lnTo>
                  <a:pt x="1507806" y="0"/>
                </a:lnTo>
                <a:lnTo>
                  <a:pt x="1507806" y="1546494"/>
                </a:lnTo>
                <a:lnTo>
                  <a:pt x="0" y="15464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33151" y="4998724"/>
            <a:ext cx="3826448" cy="498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3999" spc="-319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Dart (Java)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2903202">
            <a:off x="641014" y="3748953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903202">
            <a:off x="641014" y="5030123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903202">
            <a:off x="641014" y="6309648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1"/>
                </a:lnTo>
                <a:lnTo>
                  <a:pt x="0" y="3309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898607" y="4969878"/>
            <a:ext cx="3826448" cy="498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3999" spc="-319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Google Calendar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-2903202">
            <a:off x="5506470" y="3791252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1"/>
                </a:lnTo>
                <a:lnTo>
                  <a:pt x="0" y="3309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2903202">
            <a:off x="5506470" y="5001277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903202">
            <a:off x="5506470" y="6280801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2903202">
            <a:off x="10375594" y="3720107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2903202">
            <a:off x="10375594" y="5026794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2903202">
            <a:off x="10371926" y="6253931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2903202">
            <a:off x="10375594" y="7481068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752562" y="2782532"/>
            <a:ext cx="2337435" cy="3201966"/>
          </a:xfrm>
          <a:custGeom>
            <a:avLst/>
            <a:gdLst/>
            <a:ahLst/>
            <a:cxnLst/>
            <a:rect r="r" b="b" t="t" l="l"/>
            <a:pathLst>
              <a:path h="3201966" w="2337435">
                <a:moveTo>
                  <a:pt x="0" y="0"/>
                </a:moveTo>
                <a:lnTo>
                  <a:pt x="2337434" y="0"/>
                </a:lnTo>
                <a:lnTo>
                  <a:pt x="2337434" y="3201966"/>
                </a:lnTo>
                <a:lnTo>
                  <a:pt x="0" y="32019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209889" y="7557714"/>
            <a:ext cx="2635324" cy="2635324"/>
          </a:xfrm>
          <a:custGeom>
            <a:avLst/>
            <a:gdLst/>
            <a:ahLst/>
            <a:cxnLst/>
            <a:rect r="r" b="b" t="t" l="l"/>
            <a:pathLst>
              <a:path h="2635324" w="2635324">
                <a:moveTo>
                  <a:pt x="0" y="0"/>
                </a:moveTo>
                <a:lnTo>
                  <a:pt x="2635323" y="0"/>
                </a:lnTo>
                <a:lnTo>
                  <a:pt x="2635323" y="2635324"/>
                </a:lnTo>
                <a:lnTo>
                  <a:pt x="0" y="26353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4771694" y="6676732"/>
            <a:ext cx="3516306" cy="3516306"/>
          </a:xfrm>
          <a:custGeom>
            <a:avLst/>
            <a:gdLst/>
            <a:ahLst/>
            <a:cxnLst/>
            <a:rect r="r" b="b" t="t" l="l"/>
            <a:pathLst>
              <a:path h="3516306" w="3516306">
                <a:moveTo>
                  <a:pt x="0" y="0"/>
                </a:moveTo>
                <a:lnTo>
                  <a:pt x="3516306" y="0"/>
                </a:lnTo>
                <a:lnTo>
                  <a:pt x="3516306" y="3516306"/>
                </a:lnTo>
                <a:lnTo>
                  <a:pt x="0" y="351630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870355" y="7646519"/>
            <a:ext cx="2694568" cy="2694568"/>
          </a:xfrm>
          <a:custGeom>
            <a:avLst/>
            <a:gdLst/>
            <a:ahLst/>
            <a:cxnLst/>
            <a:rect r="r" b="b" t="t" l="l"/>
            <a:pathLst>
              <a:path h="2694568" w="2694568">
                <a:moveTo>
                  <a:pt x="0" y="0"/>
                </a:moveTo>
                <a:lnTo>
                  <a:pt x="2694568" y="0"/>
                </a:lnTo>
                <a:lnTo>
                  <a:pt x="2694568" y="2694568"/>
                </a:lnTo>
                <a:lnTo>
                  <a:pt x="0" y="26945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761794" y="1309548"/>
            <a:ext cx="10401314" cy="1171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91"/>
              </a:lnSpc>
            </a:pPr>
            <a:r>
              <a:rPr lang="en-US" sz="9149" spc="-731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ecnologias  utilizadas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1266825"/>
            <a:ext cx="675944" cy="1276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3"/>
              </a:lnSpc>
            </a:pPr>
            <a:r>
              <a:rPr lang="en-US" sz="9951" i="true" spc="-796">
                <a:solidFill>
                  <a:srgbClr val="F8F8F8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53308" y="3717554"/>
            <a:ext cx="3826448" cy="498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3999" spc="-319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Flutter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53308" y="6278249"/>
            <a:ext cx="3826448" cy="498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3999" spc="-319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Android Studio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018764" y="3759853"/>
            <a:ext cx="3826448" cy="498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3999" spc="-319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Google Maps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018764" y="6249402"/>
            <a:ext cx="3826448" cy="498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3999" spc="-319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Servicio Celular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887889" y="3688708"/>
            <a:ext cx="3826448" cy="498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3999" spc="-319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Real time database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887889" y="4995395"/>
            <a:ext cx="3826448" cy="498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3999" spc="-319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Cloud Fuction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887889" y="6293677"/>
            <a:ext cx="3826448" cy="498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3999" spc="-319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Cloud Messaging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887889" y="7449669"/>
            <a:ext cx="3826448" cy="498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3999" spc="-319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Authentication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04594" y="2887307"/>
            <a:ext cx="1026230" cy="498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3999" spc="-319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APP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667782" y="2887307"/>
            <a:ext cx="3266405" cy="498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3999" spc="-319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Integración/API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576279" y="2887307"/>
            <a:ext cx="1895772" cy="498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3999" spc="-319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Firebase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71593" y="9262748"/>
            <a:ext cx="3292233" cy="739560"/>
          </a:xfrm>
          <a:custGeom>
            <a:avLst/>
            <a:gdLst/>
            <a:ahLst/>
            <a:cxnLst/>
            <a:rect r="r" b="b" t="t" l="l"/>
            <a:pathLst>
              <a:path h="739560" w="3292233">
                <a:moveTo>
                  <a:pt x="0" y="0"/>
                </a:moveTo>
                <a:lnTo>
                  <a:pt x="3292233" y="0"/>
                </a:lnTo>
                <a:lnTo>
                  <a:pt x="3292233" y="739560"/>
                </a:lnTo>
                <a:lnTo>
                  <a:pt x="0" y="73956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u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D7486">
                <a:alpha val="100000"/>
              </a:srgbClr>
            </a:gs>
            <a:gs pos="100000">
              <a:srgbClr val="0A0D1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-7891318">
            <a:off x="-297034" y="143530"/>
            <a:ext cx="3213715" cy="6602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41"/>
              </a:lnSpc>
            </a:pPr>
            <a:r>
              <a:rPr lang="en-US" sz="38744" i="true" spc="-2324">
                <a:solidFill>
                  <a:srgbClr val="F8F8F8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10267691">
            <a:off x="1306466" y="563670"/>
            <a:ext cx="1507806" cy="1546494"/>
          </a:xfrm>
          <a:custGeom>
            <a:avLst/>
            <a:gdLst/>
            <a:ahLst/>
            <a:cxnLst/>
            <a:rect r="r" b="b" t="t" l="l"/>
            <a:pathLst>
              <a:path h="1546494" w="1507806">
                <a:moveTo>
                  <a:pt x="0" y="0"/>
                </a:moveTo>
                <a:lnTo>
                  <a:pt x="1507807" y="0"/>
                </a:lnTo>
                <a:lnTo>
                  <a:pt x="1507807" y="1546494"/>
                </a:lnTo>
                <a:lnTo>
                  <a:pt x="0" y="15464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5295" y="7237948"/>
            <a:ext cx="11454376" cy="1166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91"/>
              </a:lnSpc>
            </a:pPr>
            <a:r>
              <a:rPr lang="en-US" sz="9149" spc="-457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Criterios de aceptación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904651" y="530578"/>
            <a:ext cx="6231935" cy="7485631"/>
          </a:xfrm>
          <a:prstGeom prst="rect">
            <a:avLst/>
          </a:prstGeom>
        </p:spPr>
      </p:pic>
      <p:sp>
        <p:nvSpPr>
          <p:cNvPr name="Freeform 6" id="6"/>
          <p:cNvSpPr/>
          <p:nvPr/>
        </p:nvSpPr>
        <p:spPr>
          <a:xfrm flipH="false" flipV="false" rot="0">
            <a:off x="480208" y="9258300"/>
            <a:ext cx="3292233" cy="739560"/>
          </a:xfrm>
          <a:custGeom>
            <a:avLst/>
            <a:gdLst/>
            <a:ahLst/>
            <a:cxnLst/>
            <a:rect r="r" b="b" t="t" l="l"/>
            <a:pathLst>
              <a:path h="739560" w="3292233">
                <a:moveTo>
                  <a:pt x="0" y="0"/>
                </a:moveTo>
                <a:lnTo>
                  <a:pt x="3292234" y="0"/>
                </a:lnTo>
                <a:lnTo>
                  <a:pt x="3292234" y="739560"/>
                </a:lnTo>
                <a:lnTo>
                  <a:pt x="0" y="7395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u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D7486">
                <a:alpha val="100000"/>
              </a:srgbClr>
            </a:gs>
            <a:gs pos="100000">
              <a:srgbClr val="0A0D1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-6245029">
            <a:off x="-2316255" y="-71280"/>
            <a:ext cx="3213715" cy="6602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41"/>
              </a:lnSpc>
            </a:pPr>
            <a:r>
              <a:rPr lang="en-US" sz="38744" i="true" spc="-2324">
                <a:solidFill>
                  <a:srgbClr val="F8F8F8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10267691">
            <a:off x="-27372" y="975237"/>
            <a:ext cx="1507806" cy="1546494"/>
          </a:xfrm>
          <a:custGeom>
            <a:avLst/>
            <a:gdLst/>
            <a:ahLst/>
            <a:cxnLst/>
            <a:rect r="r" b="b" t="t" l="l"/>
            <a:pathLst>
              <a:path h="1546494" w="1507806">
                <a:moveTo>
                  <a:pt x="0" y="0"/>
                </a:moveTo>
                <a:lnTo>
                  <a:pt x="1507806" y="0"/>
                </a:lnTo>
                <a:lnTo>
                  <a:pt x="1507806" y="1546494"/>
                </a:lnTo>
                <a:lnTo>
                  <a:pt x="0" y="15464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93990" y="558198"/>
            <a:ext cx="3345853" cy="3720246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382714" y="474505"/>
            <a:ext cx="3373750" cy="388763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703985" y="377660"/>
            <a:ext cx="3406032" cy="408132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201129" y="424166"/>
            <a:ext cx="3390530" cy="3988310"/>
          </a:xfrm>
          <a:prstGeom prst="rect">
            <a:avLst/>
          </a:prstGeom>
        </p:spPr>
      </p:pic>
      <p:sp>
        <p:nvSpPr>
          <p:cNvPr name="Freeform 8" id="8"/>
          <p:cNvSpPr/>
          <p:nvPr/>
        </p:nvSpPr>
        <p:spPr>
          <a:xfrm flipH="false" flipV="false" rot="0">
            <a:off x="485753" y="5065239"/>
            <a:ext cx="4144069" cy="2584712"/>
          </a:xfrm>
          <a:custGeom>
            <a:avLst/>
            <a:gdLst/>
            <a:ahLst/>
            <a:cxnLst/>
            <a:rect r="r" b="b" t="t" l="l"/>
            <a:pathLst>
              <a:path h="2584712" w="4144069">
                <a:moveTo>
                  <a:pt x="0" y="0"/>
                </a:moveTo>
                <a:lnTo>
                  <a:pt x="4144069" y="0"/>
                </a:lnTo>
                <a:lnTo>
                  <a:pt x="4144069" y="2584712"/>
                </a:lnTo>
                <a:lnTo>
                  <a:pt x="0" y="258471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75" t="0" r="-275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982247" y="5053327"/>
            <a:ext cx="4183377" cy="2623749"/>
          </a:xfrm>
          <a:custGeom>
            <a:avLst/>
            <a:gdLst/>
            <a:ahLst/>
            <a:cxnLst/>
            <a:rect r="r" b="b" t="t" l="l"/>
            <a:pathLst>
              <a:path h="2623749" w="4183377">
                <a:moveTo>
                  <a:pt x="0" y="0"/>
                </a:moveTo>
                <a:lnTo>
                  <a:pt x="4183377" y="0"/>
                </a:lnTo>
                <a:lnTo>
                  <a:pt x="4183377" y="2623749"/>
                </a:lnTo>
                <a:lnTo>
                  <a:pt x="0" y="262374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513702" y="5065239"/>
            <a:ext cx="4145478" cy="2611837"/>
          </a:xfrm>
          <a:custGeom>
            <a:avLst/>
            <a:gdLst/>
            <a:ahLst/>
            <a:cxnLst/>
            <a:rect r="r" b="b" t="t" l="l"/>
            <a:pathLst>
              <a:path h="2611837" w="4145478">
                <a:moveTo>
                  <a:pt x="0" y="0"/>
                </a:moveTo>
                <a:lnTo>
                  <a:pt x="4145478" y="0"/>
                </a:lnTo>
                <a:lnTo>
                  <a:pt x="4145478" y="2611837"/>
                </a:lnTo>
                <a:lnTo>
                  <a:pt x="0" y="261183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868902" y="5065239"/>
            <a:ext cx="4185208" cy="2611837"/>
          </a:xfrm>
          <a:custGeom>
            <a:avLst/>
            <a:gdLst/>
            <a:ahLst/>
            <a:cxnLst/>
            <a:rect r="r" b="b" t="t" l="l"/>
            <a:pathLst>
              <a:path h="2611837" w="4185208">
                <a:moveTo>
                  <a:pt x="0" y="0"/>
                </a:moveTo>
                <a:lnTo>
                  <a:pt x="4185208" y="0"/>
                </a:lnTo>
                <a:lnTo>
                  <a:pt x="4185208" y="2611837"/>
                </a:lnTo>
                <a:lnTo>
                  <a:pt x="0" y="261183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954" t="0" r="-5922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77138" y="7981876"/>
            <a:ext cx="17776972" cy="1001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57"/>
              </a:lnSpc>
            </a:pPr>
            <a:r>
              <a:rPr lang="en-US" sz="7849" spc="-392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Porcentaje de Historia de Usuario en done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02503" y="4175920"/>
            <a:ext cx="1328825" cy="50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b="true" sz="2999" spc="-239">
                <a:solidFill>
                  <a:srgbClr val="F1F1F1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Sprint 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361081" y="4175920"/>
            <a:ext cx="1328825" cy="50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b="true" sz="2999" spc="-239">
                <a:solidFill>
                  <a:srgbClr val="F1F1F1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Sprint 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742589" y="4175920"/>
            <a:ext cx="1328825" cy="50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b="true" sz="2999" spc="-239">
                <a:solidFill>
                  <a:srgbClr val="F1F1F1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Sprint 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231982" y="4175920"/>
            <a:ext cx="1328825" cy="50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b="true" sz="2999" spc="-239">
                <a:solidFill>
                  <a:srgbClr val="F1F1F1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Sprint 4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480208" y="9258300"/>
            <a:ext cx="3292233" cy="739560"/>
          </a:xfrm>
          <a:custGeom>
            <a:avLst/>
            <a:gdLst/>
            <a:ahLst/>
            <a:cxnLst/>
            <a:rect r="r" b="b" t="t" l="l"/>
            <a:pathLst>
              <a:path h="739560" w="3292233">
                <a:moveTo>
                  <a:pt x="0" y="0"/>
                </a:moveTo>
                <a:lnTo>
                  <a:pt x="3292234" y="0"/>
                </a:lnTo>
                <a:lnTo>
                  <a:pt x="3292234" y="739560"/>
                </a:lnTo>
                <a:lnTo>
                  <a:pt x="0" y="73956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u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D7486">
                <a:alpha val="100000"/>
              </a:srgbClr>
            </a:gs>
            <a:gs pos="100000">
              <a:srgbClr val="0A0D1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74127" y="2031985"/>
            <a:ext cx="10685173" cy="5168080"/>
          </a:xfrm>
          <a:custGeom>
            <a:avLst/>
            <a:gdLst/>
            <a:ahLst/>
            <a:cxnLst/>
            <a:rect r="r" b="b" t="t" l="l"/>
            <a:pathLst>
              <a:path h="5168080" w="10685173">
                <a:moveTo>
                  <a:pt x="0" y="0"/>
                </a:moveTo>
                <a:lnTo>
                  <a:pt x="10685173" y="0"/>
                </a:lnTo>
                <a:lnTo>
                  <a:pt x="10685173" y="5168080"/>
                </a:lnTo>
                <a:lnTo>
                  <a:pt x="0" y="51680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903202">
            <a:off x="636562" y="2427535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903202">
            <a:off x="636562" y="3774830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903202">
            <a:off x="636562" y="5121614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543334" y="7956339"/>
            <a:ext cx="4224636" cy="1934831"/>
          </a:xfrm>
          <a:custGeom>
            <a:avLst/>
            <a:gdLst/>
            <a:ahLst/>
            <a:cxnLst/>
            <a:rect r="r" b="b" t="t" l="l"/>
            <a:pathLst>
              <a:path h="1934831" w="4224636">
                <a:moveTo>
                  <a:pt x="0" y="0"/>
                </a:moveTo>
                <a:lnTo>
                  <a:pt x="4224636" y="0"/>
                </a:lnTo>
                <a:lnTo>
                  <a:pt x="4224636" y="1934831"/>
                </a:lnTo>
                <a:lnTo>
                  <a:pt x="0" y="19348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67121" r="0" b="-51224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09307" y="449259"/>
            <a:ext cx="17213065" cy="1001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57"/>
              </a:lnSpc>
            </a:pPr>
            <a:r>
              <a:rPr lang="en-US" sz="7849" spc="-392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Testing y Resultado de pruebas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8369" y="2158011"/>
            <a:ext cx="3891292" cy="974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3999" spc="-199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Tipos de pruebas realizadas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8369" y="3743431"/>
            <a:ext cx="3891292" cy="498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3999" spc="-199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Casos de prueba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8369" y="4852091"/>
            <a:ext cx="3891292" cy="974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3999" spc="-199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Ambiente de pruebas utilizado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567049" y="9151610"/>
            <a:ext cx="3292233" cy="739560"/>
          </a:xfrm>
          <a:custGeom>
            <a:avLst/>
            <a:gdLst/>
            <a:ahLst/>
            <a:cxnLst/>
            <a:rect r="r" b="b" t="t" l="l"/>
            <a:pathLst>
              <a:path h="739560" w="3292233">
                <a:moveTo>
                  <a:pt x="0" y="0"/>
                </a:moveTo>
                <a:lnTo>
                  <a:pt x="3292233" y="0"/>
                </a:lnTo>
                <a:lnTo>
                  <a:pt x="3292233" y="739560"/>
                </a:lnTo>
                <a:lnTo>
                  <a:pt x="0" y="7395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u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D7486">
                <a:alpha val="100000"/>
              </a:srgbClr>
            </a:gs>
            <a:gs pos="100000">
              <a:srgbClr val="0A0D13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-6245029">
            <a:off x="-2316255" y="-71280"/>
            <a:ext cx="3213715" cy="6602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41"/>
              </a:lnSpc>
            </a:pPr>
            <a:r>
              <a:rPr lang="en-US" sz="38744" i="true" spc="-2324">
                <a:solidFill>
                  <a:srgbClr val="F8F8F8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10267691">
            <a:off x="-27372" y="975237"/>
            <a:ext cx="1507806" cy="1546494"/>
          </a:xfrm>
          <a:custGeom>
            <a:avLst/>
            <a:gdLst/>
            <a:ahLst/>
            <a:cxnLst/>
            <a:rect r="r" b="b" t="t" l="l"/>
            <a:pathLst>
              <a:path h="1546494" w="1507806">
                <a:moveTo>
                  <a:pt x="0" y="0"/>
                </a:moveTo>
                <a:lnTo>
                  <a:pt x="1507806" y="0"/>
                </a:lnTo>
                <a:lnTo>
                  <a:pt x="1507806" y="1546494"/>
                </a:lnTo>
                <a:lnTo>
                  <a:pt x="0" y="15464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797401" y="1573208"/>
            <a:ext cx="6693198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8F8F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Conclusión 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80208" y="9258300"/>
            <a:ext cx="3292233" cy="739560"/>
          </a:xfrm>
          <a:custGeom>
            <a:avLst/>
            <a:gdLst/>
            <a:ahLst/>
            <a:cxnLst/>
            <a:rect r="r" b="b" t="t" l="l"/>
            <a:pathLst>
              <a:path h="739560" w="3292233">
                <a:moveTo>
                  <a:pt x="0" y="0"/>
                </a:moveTo>
                <a:lnTo>
                  <a:pt x="3292234" y="0"/>
                </a:lnTo>
                <a:lnTo>
                  <a:pt x="3292234" y="739560"/>
                </a:lnTo>
                <a:lnTo>
                  <a:pt x="0" y="7395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903202">
            <a:off x="5866915" y="3929025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386810" y="3860859"/>
            <a:ext cx="6261431" cy="562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3"/>
              </a:lnSpc>
            </a:pPr>
            <a:r>
              <a:rPr lang="en-US" sz="4361" spc="-348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Resultado del proyecto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2903202">
            <a:off x="5866915" y="5113885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386810" y="5045719"/>
            <a:ext cx="6261431" cy="562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3"/>
              </a:lnSpc>
            </a:pPr>
            <a:r>
              <a:rPr lang="en-US" sz="4361" spc="-348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Impedimentos del proyecto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2903202">
            <a:off x="5866915" y="6298744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386810" y="6230579"/>
            <a:ext cx="6261431" cy="562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3"/>
              </a:lnSpc>
            </a:pPr>
            <a:r>
              <a:rPr lang="en-US" sz="4361" spc="-348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Mejoras continuas 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-2903202">
            <a:off x="5866915" y="7483604"/>
            <a:ext cx="322624" cy="330902"/>
          </a:xfrm>
          <a:custGeom>
            <a:avLst/>
            <a:gdLst/>
            <a:ahLst/>
            <a:cxnLst/>
            <a:rect r="r" b="b" t="t" l="l"/>
            <a:pathLst>
              <a:path h="330902" w="322624">
                <a:moveTo>
                  <a:pt x="0" y="0"/>
                </a:moveTo>
                <a:lnTo>
                  <a:pt x="322624" y="0"/>
                </a:lnTo>
                <a:lnTo>
                  <a:pt x="322624" y="330902"/>
                </a:lnTo>
                <a:lnTo>
                  <a:pt x="0" y="3309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386810" y="7412187"/>
            <a:ext cx="6261431" cy="1081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3"/>
              </a:lnSpc>
            </a:pPr>
            <a:r>
              <a:rPr lang="en-US" sz="4361" spc="-348" b="true">
                <a:solidFill>
                  <a:srgbClr val="F8F8F8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Implementaciones futuras post producción</a:t>
            </a:r>
          </a:p>
        </p:txBody>
      </p:sp>
    </p:spTree>
  </p:cSld>
  <p:clrMapOvr>
    <a:masterClrMapping/>
  </p:clrMapOvr>
  <p:transition spd="fast">
    <p:push dir="l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637739"/>
            <a:ext cx="9684799" cy="126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99"/>
              </a:lnSpc>
            </a:pPr>
            <a:r>
              <a:rPr lang="en-US" sz="9999" spc="-799" b="true">
                <a:solidFill>
                  <a:srgbClr val="1D2024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Fin</a:t>
            </a:r>
          </a:p>
        </p:txBody>
      </p:sp>
      <p:sp>
        <p:nvSpPr>
          <p:cNvPr name="TextBox 3" id="3"/>
          <p:cNvSpPr txBox="true"/>
          <p:nvPr/>
        </p:nvSpPr>
        <p:spPr>
          <a:xfrm rot="5400000">
            <a:off x="13007474" y="4709762"/>
            <a:ext cx="5349966" cy="10974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297"/>
              </a:lnSpc>
            </a:pPr>
            <a:r>
              <a:rPr lang="en-US" sz="64498" i="true" spc="-3869">
                <a:solidFill>
                  <a:srgbClr val="1D2024"/>
                </a:solidFill>
                <a:latin typeface="Museo Moderno Italics"/>
                <a:ea typeface="Museo Moderno Italics"/>
                <a:cs typeface="Museo Moderno Italics"/>
                <a:sym typeface="Museo Moderno Italics"/>
              </a:rPr>
              <a:t>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145423"/>
            <a:ext cx="5844078" cy="662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b="true" sz="3899" i="true" spc="-233">
                <a:solidFill>
                  <a:srgbClr val="1D2024"/>
                </a:solidFill>
                <a:latin typeface="Arial Nova Bold Italics"/>
                <a:ea typeface="Arial Nova Bold Italics"/>
                <a:cs typeface="Arial Nova Bold Italics"/>
                <a:sym typeface="Arial Nova Bold Italics"/>
              </a:rPr>
              <a:t>Gracias por su atención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39885" y="9241225"/>
            <a:ext cx="3333491" cy="955716"/>
          </a:xfrm>
          <a:custGeom>
            <a:avLst/>
            <a:gdLst/>
            <a:ahLst/>
            <a:cxnLst/>
            <a:rect r="r" b="b" t="t" l="l"/>
            <a:pathLst>
              <a:path h="955716" w="3333491">
                <a:moveTo>
                  <a:pt x="0" y="0"/>
                </a:moveTo>
                <a:lnTo>
                  <a:pt x="3333491" y="0"/>
                </a:lnTo>
                <a:lnTo>
                  <a:pt x="3333491" y="955716"/>
                </a:lnTo>
                <a:lnTo>
                  <a:pt x="0" y="9557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570" t="-106056" r="0" b="-96870"/>
            </a:stretch>
          </a:blipFill>
        </p:spPr>
      </p:sp>
    </p:spTree>
  </p:cSld>
  <p:clrMapOvr>
    <a:masterClrMapping/>
  </p:clrMapOvr>
  <p:transition spd="fast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DAG5Em_GHJ8</dc:identifier>
  <dcterms:modified xsi:type="dcterms:W3CDTF">2011-08-01T06:04:30Z</dcterms:modified>
  <cp:revision>1</cp:revision>
  <dc:title>Elden Guardian</dc:title>
</cp:coreProperties>
</file>